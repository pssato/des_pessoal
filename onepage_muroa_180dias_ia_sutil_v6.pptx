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  <p:sldId id="258" r:id="rId9"/>
  </p:sldIdLst>
  <p:notesMasterIdLst>
    <p:notesMasterId r:id="rId3"/>
  </p:notesMasterIdLst>
  <p:sldSz cx="12929616" cy="9144000"/>
  <p:notesSz cx="9144000" cy="1292961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123809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08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Transformação da Plataforma Muroa em 180 dias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02920" y="356616"/>
            <a:ext cx="1192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8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Plano de liderança para gerar capacidade, resiliência, modernização e autonomia sustentável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1371600" y="585216"/>
            <a:ext cx="1018641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25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Quatro ondas de execução conectadas, com foco em pessoas, operação, negócio e evolução da plataforma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128016" y="896112"/>
            <a:ext cx="1325880" cy="530352"/>
          </a:xfrm>
          <a:prstGeom prst="roundRect">
            <a:avLst/>
          </a:prstGeom>
          <a:solidFill>
            <a:srgbClr val="EEF3F8"/>
          </a:solidFill>
          <a:ln w="8255">
            <a:solidFill>
              <a:srgbClr val="E3EA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FRENTES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TRABALHO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508760" y="896112"/>
            <a:ext cx="2423160" cy="530352"/>
          </a:xfrm>
          <a:prstGeom prst="roundRect">
            <a:avLst/>
          </a:prstGeom>
          <a:solidFill>
            <a:srgbClr val="FFF1E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  </a:t>
            </a:r>
            <a:pPr indent="0" marL="0">
              <a:buNone/>
            </a:pPr>
            <a:r>
              <a:rPr lang="en-US" sz="860" b="1" dirty="0">
                <a:solidFill>
                  <a:srgbClr val="F15A24"/>
                </a:solidFill>
              </a:rPr>
              <a:t>0–30 dias
</a:t>
            </a:r>
            <a:pPr indent="0" marL="0">
              <a:buNone/>
            </a:pPr>
            <a:r>
              <a:rPr lang="en-US" sz="620" b="1" dirty="0">
                <a:solidFill>
                  <a:srgbClr val="081D3B"/>
                </a:solidFill>
              </a:rPr>
              <a:t>Diagnosticar e pactuar</a:t>
            </a:r>
            <a:pPr indent="0" marL="0">
              <a:buNone/>
            </a:pPr>
            <a:r>
              <a:rPr lang="en-US" sz="1500" b="1" dirty="0">
                <a:solidFill>
                  <a:srgbClr val="F15A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   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86784" y="896112"/>
            <a:ext cx="2423160" cy="530352"/>
          </a:xfrm>
          <a:prstGeom prst="roundRect">
            <a:avLst/>
          </a:prstGeom>
          <a:solidFill>
            <a:srgbClr val="EAF4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 </a:t>
            </a:r>
            <a:pPr indent="0" marL="0">
              <a:buNone/>
            </a:pPr>
            <a:r>
              <a:rPr lang="en-US" sz="860" b="1" dirty="0">
                <a:solidFill>
                  <a:srgbClr val="0B63B6"/>
                </a:solidFill>
              </a:rPr>
              <a:t>31–60 dias
</a:t>
            </a:r>
            <a:pPr indent="0" marL="0">
              <a:buNone/>
            </a:pPr>
            <a:r>
              <a:rPr lang="en-US" sz="620" b="1" dirty="0">
                <a:solidFill>
                  <a:srgbClr val="081D3B"/>
                </a:solidFill>
              </a:rPr>
              <a:t>Organizar e estabilizar</a:t>
            </a:r>
            <a:pPr indent="0" marL="0">
              <a:buNone/>
            </a:pPr>
            <a:r>
              <a:rPr lang="en-US" sz="15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   ⚙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64808" y="896112"/>
            <a:ext cx="2423160" cy="530352"/>
          </a:xfrm>
          <a:prstGeom prst="roundRect">
            <a:avLst/>
          </a:prstGeom>
          <a:solidFill>
            <a:srgbClr val="EAF8F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 </a:t>
            </a:r>
            <a:pPr indent="0" marL="0">
              <a:buNone/>
            </a:pPr>
            <a:r>
              <a:rPr lang="en-US" sz="860" b="1" dirty="0">
                <a:solidFill>
                  <a:srgbClr val="0A8F4A"/>
                </a:solidFill>
              </a:rPr>
              <a:t>61–90 dias
</a:t>
            </a:r>
            <a:pPr indent="0" marL="0">
              <a:buNone/>
            </a:pPr>
            <a:r>
              <a:rPr lang="en-US" sz="620" b="1" dirty="0">
                <a:solidFill>
                  <a:srgbClr val="081D3B"/>
                </a:solidFill>
              </a:rPr>
              <a:t>Ganhar tração e evidenciar valor</a:t>
            </a:r>
            <a:pPr indent="0" marL="0">
              <a:buNone/>
            </a:pPr>
            <a:r>
              <a:rPr lang="en-US" sz="1500" b="1" dirty="0">
                <a:solidFill>
                  <a:srgbClr val="0A8F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   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42832" y="896112"/>
            <a:ext cx="2423160" cy="530352"/>
          </a:xfrm>
          <a:prstGeom prst="roundRect">
            <a:avLst/>
          </a:prstGeom>
          <a:solidFill>
            <a:srgbClr val="FFF1E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  </a:t>
            </a:r>
            <a:pPr indent="0" marL="0">
              <a:buNone/>
            </a:pPr>
            <a:r>
              <a:rPr lang="en-US" sz="860" b="1" dirty="0">
                <a:solidFill>
                  <a:srgbClr val="F15A24"/>
                </a:solidFill>
              </a:rPr>
              <a:t>91–180 dias
</a:t>
            </a:r>
            <a:pPr indent="0" marL="0">
              <a:buNone/>
            </a:pPr>
            <a:r>
              <a:rPr lang="en-US" sz="620" b="1" dirty="0">
                <a:solidFill>
                  <a:srgbClr val="081D3B"/>
                </a:solidFill>
              </a:rPr>
              <a:t>Escalar, consolidar e delegar</a:t>
            </a:r>
            <a:pPr indent="0" marL="0">
              <a:buNone/>
            </a:pPr>
            <a:r>
              <a:rPr lang="en-US" sz="1500" b="1" dirty="0">
                <a:solidFill>
                  <a:srgbClr val="F15A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   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20856" y="896112"/>
            <a:ext cx="1380744" cy="530352"/>
          </a:xfrm>
          <a:prstGeom prst="roundRect">
            <a:avLst/>
          </a:prstGeom>
          <a:solidFill>
            <a:srgbClr val="EEF3F8"/>
          </a:solidFill>
          <a:ln w="8255">
            <a:solidFill>
              <a:srgbClr val="E3EA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ESPERADOS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128016" y="1490472"/>
            <a:ext cx="1325880" cy="722376"/>
          </a:xfrm>
          <a:prstGeom prst="roundRect">
            <a:avLst/>
          </a:prstGeom>
          <a:solidFill>
            <a:srgbClr val="FFF6F0"/>
          </a:solidFill>
          <a:ln w="7620">
            <a:solidFill>
              <a:srgbClr val="D6E0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15A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👥  </a:t>
            </a:r>
            <a:pPr indent="0" marL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Pessoas,</a:t>
            </a:r>
            <a:endParaRPr lang="en-US" sz="1600" dirty="0"/>
          </a:p>
          <a:p>
            <a:pPr indent="0" marL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</a:t>
            </a:r>
            <a:endParaRPr lang="en-US" sz="1600" dirty="0"/>
          </a:p>
          <a:p>
            <a:pPr indent="0" marL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IA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1490472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Mapear papéis, skills e pontos críticos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Diagnóstico de capacidade e sobrecarga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Plano inicial de IA com baseline do fluxo</a:t>
            </a:r>
            <a:endParaRPr lang="en-US" sz="535" dirty="0"/>
          </a:p>
        </p:txBody>
      </p:sp>
      <p:sp>
        <p:nvSpPr>
          <p:cNvPr id="13" name="Shape 11"/>
          <p:cNvSpPr/>
          <p:nvPr/>
        </p:nvSpPr>
        <p:spPr>
          <a:xfrm>
            <a:off x="1517904" y="1527048"/>
            <a:ext cx="22860" cy="64922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986784" y="1490472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Rebalancear Run x Change x Modernização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Definir owners e backups por frente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Piloto de IA em problema real, com métrica</a:t>
            </a:r>
            <a:endParaRPr lang="en-US" sz="535" dirty="0"/>
          </a:p>
        </p:txBody>
      </p:sp>
      <p:sp>
        <p:nvSpPr>
          <p:cNvPr id="15" name="Shape 13"/>
          <p:cNvSpPr/>
          <p:nvPr/>
        </p:nvSpPr>
        <p:spPr>
          <a:xfrm>
            <a:off x="3995928" y="1527048"/>
            <a:ext cx="22860" cy="64922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64808" y="1490472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Upskilling em Muroa, nuvem e dados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Mentoria e comunidades de prática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Métricas de autonomia e engajamento</a:t>
            </a:r>
            <a:endParaRPr lang="en-US" sz="535" dirty="0"/>
          </a:p>
        </p:txBody>
      </p:sp>
      <p:sp>
        <p:nvSpPr>
          <p:cNvPr id="17" name="Shape 15"/>
          <p:cNvSpPr/>
          <p:nvPr/>
        </p:nvSpPr>
        <p:spPr>
          <a:xfrm>
            <a:off x="6473952" y="1527048"/>
            <a:ext cx="22860" cy="64922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942832" y="1490472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Time mais autônomo e capacitado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Sucessores em frentes-chave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IA incorporada onde houver evidência de valor</a:t>
            </a:r>
            <a:endParaRPr lang="en-US" sz="535" dirty="0"/>
          </a:p>
        </p:txBody>
      </p:sp>
      <p:sp>
        <p:nvSpPr>
          <p:cNvPr id="19" name="Shape 17"/>
          <p:cNvSpPr/>
          <p:nvPr/>
        </p:nvSpPr>
        <p:spPr>
          <a:xfrm>
            <a:off x="8951976" y="1527048"/>
            <a:ext cx="22860" cy="64922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1420856" y="1490472"/>
            <a:ext cx="1380744" cy="722376"/>
          </a:xfrm>
          <a:prstGeom prst="roundRect">
            <a:avLst/>
          </a:prstGeom>
          <a:solidFill>
            <a:srgbClr val="FFF6F0"/>
          </a:solidFill>
          <a:ln w="10160">
            <a:solidFill>
              <a:srgbClr val="F15A24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5A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👥
</a:t>
            </a:r>
            <a:pPr algn="ctr" indent="0" marL="0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autônomo,</a:t>
            </a:r>
            <a:endParaRPr lang="en-US" sz="140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capacitado e</a:t>
            </a:r>
            <a:endParaRPr lang="en-US" sz="140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orientado a valor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" y="2263140"/>
            <a:ext cx="1325880" cy="722376"/>
          </a:xfrm>
          <a:prstGeom prst="roundRect">
            <a:avLst/>
          </a:prstGeom>
          <a:solidFill>
            <a:srgbClr val="F1F7FF"/>
          </a:solidFill>
          <a:ln w="7620">
            <a:solidFill>
              <a:srgbClr val="D6E0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🛡  </a:t>
            </a:r>
            <a:pPr indent="0" marL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Resiliência e</a:t>
            </a:r>
            <a:endParaRPr lang="en-US" sz="1600" dirty="0"/>
          </a:p>
          <a:p>
            <a:pPr indent="0" marL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observabilidade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2263140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Inventário de serviços, jornadas e dependências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Definir SLOs/SLAs críticos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Quick wins de logging, métricas e playbooks</a:t>
            </a:r>
            <a:endParaRPr lang="en-US" sz="535" dirty="0"/>
          </a:p>
        </p:txBody>
      </p:sp>
      <p:sp>
        <p:nvSpPr>
          <p:cNvPr id="23" name="Shape 21"/>
          <p:cNvSpPr/>
          <p:nvPr/>
        </p:nvSpPr>
        <p:spPr>
          <a:xfrm>
            <a:off x="1517904" y="2299716"/>
            <a:ext cx="22860" cy="649224"/>
          </a:xfrm>
          <a:prstGeom prst="rect">
            <a:avLst/>
          </a:prstGeom>
          <a:solidFill>
            <a:srgbClr val="0B63B6"/>
          </a:solidFill>
          <a:ln w="12700">
            <a:solidFill>
              <a:srgbClr val="0B63B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986784" y="2263140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Dashboards e alertas prioritários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Logs, métricas e traces mínimos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Rotina de incidentes e problemas</a:t>
            </a:r>
            <a:endParaRPr lang="en-US" sz="535" dirty="0"/>
          </a:p>
        </p:txBody>
      </p:sp>
      <p:sp>
        <p:nvSpPr>
          <p:cNvPr id="25" name="Shape 23"/>
          <p:cNvSpPr/>
          <p:nvPr/>
        </p:nvSpPr>
        <p:spPr>
          <a:xfrm>
            <a:off x="3995928" y="2299716"/>
            <a:ext cx="22860" cy="649224"/>
          </a:xfrm>
          <a:prstGeom prst="rect">
            <a:avLst/>
          </a:prstGeom>
          <a:solidFill>
            <a:srgbClr val="0B63B6"/>
          </a:solidFill>
          <a:ln w="12700">
            <a:solidFill>
              <a:srgbClr val="0B63B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64808" y="2263140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Observabilidade ponta a ponta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Redução de incidentes recorrentes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Planos de capacidade e confiabilidade</a:t>
            </a:r>
            <a:endParaRPr lang="en-US" sz="535" dirty="0"/>
          </a:p>
        </p:txBody>
      </p:sp>
      <p:sp>
        <p:nvSpPr>
          <p:cNvPr id="27" name="Shape 25"/>
          <p:cNvSpPr/>
          <p:nvPr/>
        </p:nvSpPr>
        <p:spPr>
          <a:xfrm>
            <a:off x="6473952" y="2299716"/>
            <a:ext cx="22860" cy="649224"/>
          </a:xfrm>
          <a:prstGeom prst="rect">
            <a:avLst/>
          </a:prstGeom>
          <a:solidFill>
            <a:srgbClr val="0B63B6"/>
          </a:solidFill>
          <a:ln w="12700">
            <a:solidFill>
              <a:srgbClr val="0B63B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942832" y="2263140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Operação previsível e mais estável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Post-mortem blameless e melhoria contínua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Resiliência como rotina do time</a:t>
            </a:r>
            <a:endParaRPr lang="en-US" sz="535" dirty="0"/>
          </a:p>
        </p:txBody>
      </p:sp>
      <p:sp>
        <p:nvSpPr>
          <p:cNvPr id="29" name="Shape 27"/>
          <p:cNvSpPr/>
          <p:nvPr/>
        </p:nvSpPr>
        <p:spPr>
          <a:xfrm>
            <a:off x="8951976" y="2299716"/>
            <a:ext cx="22860" cy="649224"/>
          </a:xfrm>
          <a:prstGeom prst="rect">
            <a:avLst/>
          </a:prstGeom>
          <a:solidFill>
            <a:srgbClr val="0B63B6"/>
          </a:solidFill>
          <a:ln w="12700">
            <a:solidFill>
              <a:srgbClr val="0B63B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1420856" y="2263140"/>
            <a:ext cx="1380744" cy="722376"/>
          </a:xfrm>
          <a:prstGeom prst="roundRect">
            <a:avLst/>
          </a:prstGeom>
          <a:solidFill>
            <a:srgbClr val="F1F7FF"/>
          </a:solidFill>
          <a:ln w="10160">
            <a:solidFill>
              <a:srgbClr val="0B63B6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▰
</a:t>
            </a:r>
            <a:pPr algn="ctr" indent="0" marL="0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Operação resiliente</a:t>
            </a:r>
            <a:endParaRPr lang="en-US" sz="140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observável</a:t>
            </a:r>
            <a:endParaRPr lang="en-US" sz="140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ponta a ponta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8016" y="3035808"/>
            <a:ext cx="1325880" cy="722376"/>
          </a:xfrm>
          <a:prstGeom prst="roundRect">
            <a:avLst/>
          </a:prstGeom>
          <a:solidFill>
            <a:srgbClr val="F1FBF5"/>
          </a:solidFill>
          <a:ln w="7620">
            <a:solidFill>
              <a:srgbClr val="D6E0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A8F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  </a:t>
            </a:r>
            <a:pPr indent="0" marL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Modernização,</a:t>
            </a:r>
            <a:endParaRPr lang="en-US" sz="1600" dirty="0"/>
          </a:p>
          <a:p>
            <a:pPr indent="0" marL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legado e FinOps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508760" y="3035808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Mapa do legado e custos AWS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Priorização por valor, risco e esforço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Roadmap macro até 2028</a:t>
            </a:r>
            <a:endParaRPr lang="en-US" sz="535" dirty="0"/>
          </a:p>
        </p:txBody>
      </p:sp>
      <p:sp>
        <p:nvSpPr>
          <p:cNvPr id="33" name="Shape 31"/>
          <p:cNvSpPr/>
          <p:nvPr/>
        </p:nvSpPr>
        <p:spPr>
          <a:xfrm>
            <a:off x="1517904" y="3072384"/>
            <a:ext cx="22860" cy="649224"/>
          </a:xfrm>
          <a:prstGeom prst="rect">
            <a:avLst/>
          </a:prstGeom>
          <a:solidFill>
            <a:srgbClr val="0A8F4A"/>
          </a:solidFill>
          <a:ln w="12700">
            <a:solidFill>
              <a:srgbClr val="0A8F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986784" y="3035808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Right sizing e cortes de desperdício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Ondas iniciais de modernização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Política inicial de FinOps</a:t>
            </a:r>
            <a:endParaRPr lang="en-US" sz="535" dirty="0"/>
          </a:p>
        </p:txBody>
      </p:sp>
      <p:sp>
        <p:nvSpPr>
          <p:cNvPr id="35" name="Shape 33"/>
          <p:cNvSpPr/>
          <p:nvPr/>
        </p:nvSpPr>
        <p:spPr>
          <a:xfrm>
            <a:off x="3995928" y="3072384"/>
            <a:ext cx="22860" cy="649224"/>
          </a:xfrm>
          <a:prstGeom prst="rect">
            <a:avLst/>
          </a:prstGeom>
          <a:solidFill>
            <a:srgbClr val="0A8F4A"/>
          </a:solidFill>
          <a:ln w="12700">
            <a:solidFill>
              <a:srgbClr val="0A8F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64808" y="3035808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Entregas iniciais de modernização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Ganhos mensuráveis de custo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Plano de retirada do legado validado</a:t>
            </a:r>
            <a:endParaRPr lang="en-US" sz="535" dirty="0"/>
          </a:p>
        </p:txBody>
      </p:sp>
      <p:sp>
        <p:nvSpPr>
          <p:cNvPr id="37" name="Shape 35"/>
          <p:cNvSpPr/>
          <p:nvPr/>
        </p:nvSpPr>
        <p:spPr>
          <a:xfrm>
            <a:off x="6473952" y="3072384"/>
            <a:ext cx="22860" cy="649224"/>
          </a:xfrm>
          <a:prstGeom prst="rect">
            <a:avLst/>
          </a:prstGeom>
          <a:solidFill>
            <a:srgbClr val="0A8F4A"/>
          </a:solidFill>
          <a:ln w="12700">
            <a:solidFill>
              <a:srgbClr val="0A8F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942832" y="3035808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Roadmap 2028 protegido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FinOps incorporado à governança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Custos mais previsíveis e sustentáveis</a:t>
            </a:r>
            <a:endParaRPr lang="en-US" sz="535" dirty="0"/>
          </a:p>
        </p:txBody>
      </p:sp>
      <p:sp>
        <p:nvSpPr>
          <p:cNvPr id="39" name="Shape 37"/>
          <p:cNvSpPr/>
          <p:nvPr/>
        </p:nvSpPr>
        <p:spPr>
          <a:xfrm>
            <a:off x="8951976" y="3072384"/>
            <a:ext cx="22860" cy="649224"/>
          </a:xfrm>
          <a:prstGeom prst="rect">
            <a:avLst/>
          </a:prstGeom>
          <a:solidFill>
            <a:srgbClr val="0A8F4A"/>
          </a:solidFill>
          <a:ln w="12700">
            <a:solidFill>
              <a:srgbClr val="0A8F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1420856" y="3035808"/>
            <a:ext cx="1380744" cy="722376"/>
          </a:xfrm>
          <a:prstGeom prst="roundRect">
            <a:avLst/>
          </a:prstGeom>
          <a:solidFill>
            <a:srgbClr val="F1FBF5"/>
          </a:solidFill>
          <a:ln w="10160">
            <a:solidFill>
              <a:srgbClr val="0A8F4A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8F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
</a:t>
            </a:r>
            <a:pPr algn="ctr" indent="0" marL="0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 mais</a:t>
            </a:r>
            <a:endParaRPr lang="en-US" sz="140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eficiente e</a:t>
            </a:r>
            <a:endParaRPr lang="en-US" sz="140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custo-efetiva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28016" y="3808476"/>
            <a:ext cx="1325880" cy="722376"/>
          </a:xfrm>
          <a:prstGeom prst="roundRect">
            <a:avLst/>
          </a:prstGeom>
          <a:solidFill>
            <a:srgbClr val="FFF6F0"/>
          </a:solidFill>
          <a:ln w="7620">
            <a:solidFill>
              <a:srgbClr val="D6E0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15A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  </a:t>
            </a:r>
            <a:pPr indent="0" marL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Áreas</a:t>
            </a:r>
            <a:endParaRPr lang="en-US" sz="1600" dirty="0"/>
          </a:p>
          <a:p>
            <a:pPr indent="0" marL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consumidoras e</a:t>
            </a:r>
            <a:endParaRPr lang="en-US" sz="1600" dirty="0"/>
          </a:p>
          <a:p>
            <a:pPr indent="0" marL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ecossistema Muroa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508760" y="3808476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Mapear consumidores, dependências e dores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Entender compromissos e conflitos de prioridade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Alinhamento inicial com fornecedor</a:t>
            </a:r>
            <a:endParaRPr lang="en-US" sz="535" dirty="0"/>
          </a:p>
        </p:txBody>
      </p:sp>
      <p:sp>
        <p:nvSpPr>
          <p:cNvPr id="43" name="Shape 41"/>
          <p:cNvSpPr/>
          <p:nvPr/>
        </p:nvSpPr>
        <p:spPr>
          <a:xfrm>
            <a:off x="1517904" y="3845052"/>
            <a:ext cx="22860" cy="64922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3986784" y="3808476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Roadmap compartilhado com consumidores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Critérios claros de escalonamento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Negociação transparente de trade-offs</a:t>
            </a:r>
            <a:endParaRPr lang="en-US" sz="535" dirty="0"/>
          </a:p>
        </p:txBody>
      </p:sp>
      <p:sp>
        <p:nvSpPr>
          <p:cNvPr id="45" name="Shape 43"/>
          <p:cNvSpPr/>
          <p:nvPr/>
        </p:nvSpPr>
        <p:spPr>
          <a:xfrm>
            <a:off x="3995928" y="3845052"/>
            <a:ext cx="22860" cy="64922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464808" y="3808476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Compromissos mais previsíveis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Redução de conflitos e retrabalho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Decisões baseadas em dados e contexto</a:t>
            </a:r>
            <a:endParaRPr lang="en-US" sz="535" dirty="0"/>
          </a:p>
        </p:txBody>
      </p:sp>
      <p:sp>
        <p:nvSpPr>
          <p:cNvPr id="47" name="Shape 45"/>
          <p:cNvSpPr/>
          <p:nvPr/>
        </p:nvSpPr>
        <p:spPr>
          <a:xfrm>
            <a:off x="6473952" y="3845052"/>
            <a:ext cx="22860" cy="64922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8942832" y="3808476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Ecossistema mais alinhado ao valor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Relação mais produtiva com fornecedor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Governança estável com áreas parceiras</a:t>
            </a:r>
            <a:endParaRPr lang="en-US" sz="535" dirty="0"/>
          </a:p>
        </p:txBody>
      </p:sp>
      <p:sp>
        <p:nvSpPr>
          <p:cNvPr id="49" name="Shape 47"/>
          <p:cNvSpPr/>
          <p:nvPr/>
        </p:nvSpPr>
        <p:spPr>
          <a:xfrm>
            <a:off x="8951976" y="3845052"/>
            <a:ext cx="22860" cy="64922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11420856" y="3808476"/>
            <a:ext cx="1380744" cy="722376"/>
          </a:xfrm>
          <a:prstGeom prst="roundRect">
            <a:avLst/>
          </a:prstGeom>
          <a:solidFill>
            <a:srgbClr val="FFF6F0"/>
          </a:solidFill>
          <a:ln w="10160">
            <a:solidFill>
              <a:srgbClr val="F15A24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5A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🤝
</a:t>
            </a:r>
            <a:pPr algn="ctr" indent="0" marL="0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Ecossistema</a:t>
            </a:r>
            <a:endParaRPr lang="en-US" sz="140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alinhado e</a:t>
            </a:r>
            <a:endParaRPr lang="en-US" sz="140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reativo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28016" y="4581144"/>
            <a:ext cx="1325880" cy="722376"/>
          </a:xfrm>
          <a:prstGeom prst="roundRect">
            <a:avLst/>
          </a:prstGeom>
          <a:solidFill>
            <a:srgbClr val="F1F7FF"/>
          </a:solidFill>
          <a:ln w="7620">
            <a:solidFill>
              <a:srgbClr val="D6E0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  </a:t>
            </a:r>
            <a:pPr indent="0" marL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Estratégia e</a:t>
            </a:r>
            <a:endParaRPr lang="en-US" sz="1600" dirty="0"/>
          </a:p>
          <a:p>
            <a:pPr indent="0" marL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liderança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508760" y="4581144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Traduzir KRs em plano de 180 dias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Definir metas, indicadores e renúncias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Estabelecer governança e cadência</a:t>
            </a:r>
            <a:endParaRPr lang="en-US" sz="535" dirty="0"/>
          </a:p>
        </p:txBody>
      </p:sp>
      <p:sp>
        <p:nvSpPr>
          <p:cNvPr id="53" name="Shape 51"/>
          <p:cNvSpPr/>
          <p:nvPr/>
        </p:nvSpPr>
        <p:spPr>
          <a:xfrm>
            <a:off x="1517904" y="4617720"/>
            <a:ext cx="22860" cy="649224"/>
          </a:xfrm>
          <a:prstGeom prst="rect">
            <a:avLst/>
          </a:prstGeom>
          <a:solidFill>
            <a:srgbClr val="0B63B6"/>
          </a:solidFill>
          <a:ln w="12700">
            <a:solidFill>
              <a:srgbClr val="0B63B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3986784" y="4581144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Acompanhar execução por evidências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Remover impedimentos sistêmicos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Comunicação executiva simples e frequente</a:t>
            </a:r>
            <a:endParaRPr lang="en-US" sz="535" dirty="0"/>
          </a:p>
        </p:txBody>
      </p:sp>
      <p:sp>
        <p:nvSpPr>
          <p:cNvPr id="55" name="Shape 53"/>
          <p:cNvSpPr/>
          <p:nvPr/>
        </p:nvSpPr>
        <p:spPr>
          <a:xfrm>
            <a:off x="3995928" y="4617720"/>
            <a:ext cx="22860" cy="649224"/>
          </a:xfrm>
          <a:prstGeom prst="rect">
            <a:avLst/>
          </a:prstGeom>
          <a:solidFill>
            <a:srgbClr val="0B63B6"/>
          </a:solidFill>
          <a:ln w="12700">
            <a:solidFill>
              <a:srgbClr val="0B63B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6464808" y="4581144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Delegação progressiva com contexto e limites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Fóruns de decisão do próprio time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Aprendizado com erros e acertos</a:t>
            </a:r>
            <a:endParaRPr lang="en-US" sz="535" dirty="0"/>
          </a:p>
        </p:txBody>
      </p:sp>
      <p:sp>
        <p:nvSpPr>
          <p:cNvPr id="57" name="Shape 55"/>
          <p:cNvSpPr/>
          <p:nvPr/>
        </p:nvSpPr>
        <p:spPr>
          <a:xfrm>
            <a:off x="6473952" y="4617720"/>
            <a:ext cx="22860" cy="649224"/>
          </a:xfrm>
          <a:prstGeom prst="rect">
            <a:avLst/>
          </a:prstGeom>
          <a:solidFill>
            <a:srgbClr val="0B63B6"/>
          </a:solidFill>
          <a:ln w="12700">
            <a:solidFill>
              <a:srgbClr val="0B63B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8942832" y="4581144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Menos centralização na coordenação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Time decide mais sem depender da liderança</a:t>
            </a:r>
            <a:endParaRPr lang="en-US" sz="535" dirty="0"/>
          </a:p>
          <a:p>
            <a:pPr algn="l" indent="0" marL="0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Liderança distribuída e escalável</a:t>
            </a:r>
            <a:endParaRPr lang="en-US" sz="535" dirty="0"/>
          </a:p>
        </p:txBody>
      </p:sp>
      <p:sp>
        <p:nvSpPr>
          <p:cNvPr id="59" name="Shape 57"/>
          <p:cNvSpPr/>
          <p:nvPr/>
        </p:nvSpPr>
        <p:spPr>
          <a:xfrm>
            <a:off x="8951976" y="4617720"/>
            <a:ext cx="22860" cy="649224"/>
          </a:xfrm>
          <a:prstGeom prst="rect">
            <a:avLst/>
          </a:prstGeom>
          <a:solidFill>
            <a:srgbClr val="0B63B6"/>
          </a:solidFill>
          <a:ln w="12700">
            <a:solidFill>
              <a:srgbClr val="0B63B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11420856" y="4581144"/>
            <a:ext cx="1380744" cy="722376"/>
          </a:xfrm>
          <a:prstGeom prst="roundRect">
            <a:avLst/>
          </a:prstGeom>
          <a:solidFill>
            <a:srgbClr val="F1F7FF"/>
          </a:solidFill>
          <a:ln w="10160">
            <a:solidFill>
              <a:srgbClr val="0B63B6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▰
</a:t>
            </a:r>
            <a:pPr algn="ctr" indent="0" marL="0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Liderança leve,</a:t>
            </a:r>
            <a:endParaRPr lang="en-US" sz="140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governança clara e</a:t>
            </a:r>
            <a:endParaRPr lang="en-US" sz="140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 contínuos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219456" y="5934456"/>
            <a:ext cx="105156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ECOSSISTEMA</a:t>
            </a:r>
            <a:endParaRPr lang="en-US" sz="680" dirty="0"/>
          </a:p>
          <a:p>
            <a:pPr algn="l" indent="0" marL="0">
              <a:buNone/>
            </a:pPr>
            <a:r>
              <a:rPr lang="en-US" sz="68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PLATAFORMA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1545336" y="5669280"/>
            <a:ext cx="1965960" cy="530352"/>
          </a:xfrm>
          <a:prstGeom prst="roundRect">
            <a:avLst/>
          </a:prstGeom>
          <a:solidFill>
            <a:srgbClr val="F1F7FF"/>
          </a:solidFill>
          <a:ln w="8255">
            <a:solidFill>
              <a:srgbClr val="C8DA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▰  Front Office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Trading, Sales, Risco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3511296" y="5934456"/>
            <a:ext cx="566928" cy="0"/>
          </a:xfrm>
          <a:prstGeom prst="line">
            <a:avLst/>
          </a:prstGeom>
          <a:noFill/>
          <a:ln w="12700">
            <a:solidFill>
              <a:srgbClr val="0B63B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4059936" y="5669280"/>
            <a:ext cx="4434840" cy="530352"/>
          </a:xfrm>
          <a:prstGeom prst="roundRect">
            <a:avLst/>
          </a:prstGeom>
          <a:solidFill>
            <a:srgbClr val="081D3B"/>
          </a:solidFill>
          <a:ln w="8255">
            <a:solidFill>
              <a:srgbClr val="081D3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 MUROA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⚙ Operação    ▣ Dados    🛡 Risco    ▤ Processos</a:t>
            </a:r>
            <a:endParaRPr lang="en-US" sz="920" dirty="0"/>
          </a:p>
        </p:txBody>
      </p:sp>
      <p:sp>
        <p:nvSpPr>
          <p:cNvPr id="65" name="Shape 63"/>
          <p:cNvSpPr/>
          <p:nvPr/>
        </p:nvSpPr>
        <p:spPr>
          <a:xfrm>
            <a:off x="8494776" y="5934456"/>
            <a:ext cx="292608" cy="0"/>
          </a:xfrm>
          <a:prstGeom prst="line">
            <a:avLst/>
          </a:prstGeom>
          <a:noFill/>
          <a:ln w="12700">
            <a:solidFill>
              <a:srgbClr val="0B63B6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8814816" y="5669280"/>
            <a:ext cx="1810512" cy="530352"/>
          </a:xfrm>
          <a:prstGeom prst="roundRect">
            <a:avLst/>
          </a:prstGeom>
          <a:solidFill>
            <a:srgbClr val="F1F7FF"/>
          </a:solidFill>
          <a:ln w="8255">
            <a:solidFill>
              <a:srgbClr val="C8DA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▤  Back Office / Contábil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Confirmações, Liquidação, Contábil</a:t>
            </a:r>
            <a:endParaRPr lang="en-US" sz="660" dirty="0"/>
          </a:p>
        </p:txBody>
      </p:sp>
      <p:sp>
        <p:nvSpPr>
          <p:cNvPr id="67" name="Shape 65"/>
          <p:cNvSpPr/>
          <p:nvPr/>
        </p:nvSpPr>
        <p:spPr>
          <a:xfrm>
            <a:off x="10625328" y="5934456"/>
            <a:ext cx="310896" cy="0"/>
          </a:xfrm>
          <a:prstGeom prst="line">
            <a:avLst/>
          </a:prstGeom>
          <a:noFill/>
          <a:ln w="12700">
            <a:solidFill>
              <a:srgbClr val="0B63B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10963656" y="5669280"/>
            <a:ext cx="1865376" cy="530352"/>
          </a:xfrm>
          <a:prstGeom prst="roundRect">
            <a:avLst/>
          </a:prstGeom>
          <a:solidFill>
            <a:srgbClr val="F1F7FF"/>
          </a:solidFill>
          <a:ln w="8255">
            <a:solidFill>
              <a:srgbClr val="C8DA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👥  Sistemas consumidores</a:t>
            </a:r>
            <a:endParaRPr lang="en-US" sz="680" dirty="0"/>
          </a:p>
          <a:p>
            <a:pPr algn="ctr" indent="0" marL="0">
              <a:buNone/>
            </a:pPr>
            <a:r>
              <a:rPr lang="en-US" sz="68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BI, Risco, Regulatório</a:t>
            </a:r>
            <a:endParaRPr lang="en-US" sz="680" dirty="0"/>
          </a:p>
        </p:txBody>
      </p:sp>
      <p:sp>
        <p:nvSpPr>
          <p:cNvPr id="69" name="Text 67"/>
          <p:cNvSpPr/>
          <p:nvPr/>
        </p:nvSpPr>
        <p:spPr>
          <a:xfrm>
            <a:off x="1911096" y="6373368"/>
            <a:ext cx="2057400" cy="40233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8DA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☁  AWS</a:t>
            </a:r>
            <a:endParaRPr lang="en-US" sz="630" dirty="0"/>
          </a:p>
          <a:p>
            <a:pPr algn="ctr" indent="0" marL="0">
              <a:buNone/>
            </a:pPr>
            <a:r>
              <a:rPr lang="en-US" sz="63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Compute, Storage, Networking</a:t>
            </a:r>
            <a:endParaRPr lang="en-US" sz="630" dirty="0"/>
          </a:p>
        </p:txBody>
      </p:sp>
      <p:sp>
        <p:nvSpPr>
          <p:cNvPr id="70" name="Shape 68"/>
          <p:cNvSpPr/>
          <p:nvPr/>
        </p:nvSpPr>
        <p:spPr>
          <a:xfrm>
            <a:off x="2939796" y="6199632"/>
            <a:ext cx="0" cy="173736"/>
          </a:xfrm>
          <a:prstGeom prst="line">
            <a:avLst/>
          </a:prstGeom>
          <a:noFill/>
          <a:ln w="8255">
            <a:solidFill>
              <a:srgbClr val="0B63B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4215384" y="6373368"/>
            <a:ext cx="2057400" cy="40233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8DA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⌕  Observabilidade</a:t>
            </a:r>
            <a:endParaRPr lang="en-US" sz="630" dirty="0"/>
          </a:p>
          <a:p>
            <a:pPr algn="ctr" indent="0" marL="0">
              <a:buNone/>
            </a:pPr>
            <a:r>
              <a:rPr lang="en-US" sz="63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Logs, Métricas, Traces</a:t>
            </a:r>
            <a:endParaRPr lang="en-US" sz="630" dirty="0"/>
          </a:p>
        </p:txBody>
      </p:sp>
      <p:sp>
        <p:nvSpPr>
          <p:cNvPr id="72" name="Shape 70"/>
          <p:cNvSpPr/>
          <p:nvPr/>
        </p:nvSpPr>
        <p:spPr>
          <a:xfrm>
            <a:off x="5244084" y="6199632"/>
            <a:ext cx="0" cy="173736"/>
          </a:xfrm>
          <a:prstGeom prst="line">
            <a:avLst/>
          </a:prstGeom>
          <a:noFill/>
          <a:ln w="8255">
            <a:solidFill>
              <a:srgbClr val="0B63B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6519672" y="6373368"/>
            <a:ext cx="2057400" cy="40233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8DA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⌘  Mensageria e Dados</a:t>
            </a:r>
            <a:endParaRPr lang="en-US" sz="630" dirty="0"/>
          </a:p>
          <a:p>
            <a:pPr algn="ctr" indent="0" marL="0">
              <a:buNone/>
            </a:pPr>
            <a:r>
              <a:rPr lang="en-US" sz="63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Streaming, Integrações, Bancos de Dados</a:t>
            </a:r>
            <a:endParaRPr lang="en-US" sz="630" dirty="0"/>
          </a:p>
        </p:txBody>
      </p:sp>
      <p:sp>
        <p:nvSpPr>
          <p:cNvPr id="74" name="Shape 72"/>
          <p:cNvSpPr/>
          <p:nvPr/>
        </p:nvSpPr>
        <p:spPr>
          <a:xfrm>
            <a:off x="7548372" y="6199632"/>
            <a:ext cx="0" cy="173736"/>
          </a:xfrm>
          <a:prstGeom prst="line">
            <a:avLst/>
          </a:prstGeom>
          <a:noFill/>
          <a:ln w="8255">
            <a:solidFill>
              <a:srgbClr val="0B63B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8823960" y="6373368"/>
            <a:ext cx="2057400" cy="40233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8DA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  Legados em retirada</a:t>
            </a:r>
            <a:endParaRPr lang="en-US" sz="630" dirty="0"/>
          </a:p>
          <a:p>
            <a:pPr algn="ctr" indent="0" marL="0">
              <a:buNone/>
            </a:pPr>
            <a:r>
              <a:rPr lang="en-US" sz="63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Descontinuação planejada</a:t>
            </a:r>
            <a:endParaRPr lang="en-US" sz="630" dirty="0"/>
          </a:p>
        </p:txBody>
      </p:sp>
      <p:sp>
        <p:nvSpPr>
          <p:cNvPr id="76" name="Shape 74"/>
          <p:cNvSpPr/>
          <p:nvPr/>
        </p:nvSpPr>
        <p:spPr>
          <a:xfrm>
            <a:off x="9852660" y="6199632"/>
            <a:ext cx="0" cy="173736"/>
          </a:xfrm>
          <a:prstGeom prst="line">
            <a:avLst/>
          </a:prstGeom>
          <a:noFill/>
          <a:ln w="8255">
            <a:solidFill>
              <a:srgbClr val="0B63B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128016" y="7004304"/>
            <a:ext cx="960120" cy="585216"/>
          </a:xfrm>
          <a:prstGeom prst="roundRect">
            <a:avLst/>
          </a:prstGeom>
          <a:solidFill>
            <a:srgbClr val="EEF3F8"/>
          </a:solidFill>
          <a:ln w="8255">
            <a:solidFill>
              <a:srgbClr val="E3EA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MARCOS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PRINCIPAIS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1170432" y="7004304"/>
            <a:ext cx="3383280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E1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   </a:t>
            </a:r>
            <a:pPr indent="0" marL="0">
              <a:buNone/>
            </a:pPr>
            <a:r>
              <a:rPr lang="en-US" sz="1400" b="1" dirty="0">
                <a:solidFill>
                  <a:srgbClr val="F15A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  </a:t>
            </a:r>
            <a:pPr indent="0" marL="0">
              <a:buNone/>
            </a:pPr>
            <a:r>
              <a:rPr lang="en-US" sz="700" b="1" dirty="0">
                <a:solidFill>
                  <a:srgbClr val="F15A24"/>
                </a:solidFill>
              </a:rPr>
              <a:t>Baseline aprovado | Dia 30
</a:t>
            </a:r>
            <a:pPr indent="0" marL="0">
              <a:buNone/>
            </a:pPr>
            <a:r>
              <a:rPr lang="en-US" sz="580" dirty="0">
                <a:solidFill>
                  <a:srgbClr val="42516D"/>
                </a:solidFill>
              </a:rPr>
              <a:t>Inventário, riscos, custos e plano priorizado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4599432" y="7141464"/>
            <a:ext cx="1463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A1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000" dirty="0"/>
          </a:p>
        </p:txBody>
      </p:sp>
      <p:sp>
        <p:nvSpPr>
          <p:cNvPr id="80" name="Text 78"/>
          <p:cNvSpPr/>
          <p:nvPr/>
        </p:nvSpPr>
        <p:spPr>
          <a:xfrm>
            <a:off x="4809744" y="7004304"/>
            <a:ext cx="3383280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E1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   </a:t>
            </a:r>
            <a:pPr indent="0" marL="0">
              <a:buNone/>
            </a:pPr>
            <a:r>
              <a:rPr lang="en-US" sz="14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▰  </a:t>
            </a:r>
            <a:pPr indent="0" marL="0">
              <a:buNone/>
            </a:pPr>
            <a:r>
              <a:rPr lang="en-US" sz="700" b="1" dirty="0">
                <a:solidFill>
                  <a:srgbClr val="0B63B6"/>
                </a:solidFill>
              </a:rPr>
              <a:t>Evidência de valor | Dia 90
</a:t>
            </a:r>
            <a:pPr indent="0" marL="0">
              <a:buNone/>
            </a:pPr>
            <a:r>
              <a:rPr lang="en-US" sz="580" dirty="0">
                <a:solidFill>
                  <a:srgbClr val="42516D"/>
                </a:solidFill>
              </a:rPr>
              <a:t>Quick wins, evidência de valor e ganhos percebidos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8238744" y="7141464"/>
            <a:ext cx="1463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A1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000" dirty="0"/>
          </a:p>
        </p:txBody>
      </p:sp>
      <p:sp>
        <p:nvSpPr>
          <p:cNvPr id="82" name="Text 80"/>
          <p:cNvSpPr/>
          <p:nvPr/>
        </p:nvSpPr>
        <p:spPr>
          <a:xfrm>
            <a:off x="8449056" y="7004304"/>
            <a:ext cx="3383280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E1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   </a:t>
            </a:r>
            <a:pPr indent="0" marL="0">
              <a:buNone/>
            </a:pPr>
            <a:r>
              <a:rPr lang="en-US" sz="1400" b="1" dirty="0">
                <a:solidFill>
                  <a:srgbClr val="0A8F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🏆  </a:t>
            </a:r>
            <a:pPr indent="0" marL="0">
              <a:buNone/>
            </a:pPr>
            <a:r>
              <a:rPr lang="en-US" sz="700" b="1" dirty="0">
                <a:solidFill>
                  <a:srgbClr val="0A8F4A"/>
                </a:solidFill>
              </a:rPr>
              <a:t>Autonomia e roadmap protegido | Dia 180
</a:t>
            </a:r>
            <a:pPr indent="0" marL="0">
              <a:buNone/>
            </a:pPr>
            <a:r>
              <a:rPr lang="en-US" sz="580" dirty="0">
                <a:solidFill>
                  <a:srgbClr val="42516D"/>
                </a:solidFill>
              </a:rPr>
              <a:t>Mais decisões no time e evolução sustentável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128016" y="7726680"/>
            <a:ext cx="960120" cy="621792"/>
          </a:xfrm>
          <a:prstGeom prst="roundRect">
            <a:avLst/>
          </a:prstGeom>
          <a:solidFill>
            <a:srgbClr val="EEF3F8"/>
          </a:solidFill>
          <a:ln w="8255">
            <a:solidFill>
              <a:srgbClr val="E3EA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ENTREGUE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1170432" y="7726680"/>
            <a:ext cx="1885188" cy="6217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4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🛡  </a:t>
            </a:r>
            <a:pPr indent="0" marL="0">
              <a:buNone/>
            </a:pP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Menor risco</a:t>
            </a:r>
            <a:endParaRPr lang="en-US" sz="1500" dirty="0"/>
          </a:p>
          <a:p>
            <a:pPr indent="0" marL="0">
              <a:buNone/>
            </a:pP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operacional</a:t>
            </a:r>
            <a:endParaRPr lang="en-US" sz="1500" dirty="0"/>
          </a:p>
        </p:txBody>
      </p:sp>
      <p:sp>
        <p:nvSpPr>
          <p:cNvPr id="85" name="Text 83"/>
          <p:cNvSpPr/>
          <p:nvPr/>
        </p:nvSpPr>
        <p:spPr>
          <a:xfrm>
            <a:off x="3119628" y="7726680"/>
            <a:ext cx="1885188" cy="6217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4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  </a:t>
            </a:r>
            <a:pPr indent="0" marL="0">
              <a:buNone/>
            </a:pP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Eficiência de custos</a:t>
            </a:r>
            <a:endParaRPr lang="en-US" sz="1500" dirty="0"/>
          </a:p>
          <a:p>
            <a:pPr indent="0" marL="0">
              <a:buNone/>
            </a:pP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FinOps</a:t>
            </a:r>
            <a:endParaRPr lang="en-US" sz="1500" dirty="0"/>
          </a:p>
        </p:txBody>
      </p:sp>
      <p:sp>
        <p:nvSpPr>
          <p:cNvPr id="86" name="Text 84"/>
          <p:cNvSpPr/>
          <p:nvPr/>
        </p:nvSpPr>
        <p:spPr>
          <a:xfrm>
            <a:off x="5068824" y="7726680"/>
            <a:ext cx="1885188" cy="6217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4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◷  </a:t>
            </a:r>
            <a:pPr indent="0" marL="0">
              <a:buNone/>
            </a:pP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 previsibilidade</a:t>
            </a:r>
            <a:endParaRPr lang="en-US" sz="1500" dirty="0"/>
          </a:p>
          <a:p>
            <a:pPr indent="0" marL="0">
              <a:buNone/>
            </a:pP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nas entregas</a:t>
            </a:r>
            <a:endParaRPr lang="en-US" sz="1500" dirty="0"/>
          </a:p>
        </p:txBody>
      </p:sp>
      <p:sp>
        <p:nvSpPr>
          <p:cNvPr id="87" name="Text 85"/>
          <p:cNvSpPr/>
          <p:nvPr/>
        </p:nvSpPr>
        <p:spPr>
          <a:xfrm>
            <a:off x="7018020" y="7726680"/>
            <a:ext cx="1885188" cy="6217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4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▰  </a:t>
            </a:r>
            <a:pPr indent="0" marL="0">
              <a:buNone/>
            </a:pP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Decisões melhores</a:t>
            </a:r>
            <a:endParaRPr lang="en-US" sz="1500" dirty="0"/>
          </a:p>
          <a:p>
            <a:pPr indent="0" marL="0">
              <a:buNone/>
            </a:pP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dados e IA</a:t>
            </a:r>
            <a:endParaRPr lang="en-US" sz="1500" dirty="0"/>
          </a:p>
        </p:txBody>
      </p:sp>
      <p:sp>
        <p:nvSpPr>
          <p:cNvPr id="88" name="Text 86"/>
          <p:cNvSpPr/>
          <p:nvPr/>
        </p:nvSpPr>
        <p:spPr>
          <a:xfrm>
            <a:off x="8967216" y="7726680"/>
            <a:ext cx="1885188" cy="6217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4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👥  </a:t>
            </a:r>
            <a:pPr indent="0" marL="0">
              <a:buNone/>
            </a:pP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mais autônomo</a:t>
            </a:r>
            <a:endParaRPr lang="en-US" sz="1500" dirty="0"/>
          </a:p>
          <a:p>
            <a:pPr indent="0" marL="0">
              <a:buNone/>
            </a:pP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engajado</a:t>
            </a:r>
            <a:endParaRPr lang="en-US" sz="1500" dirty="0"/>
          </a:p>
        </p:txBody>
      </p:sp>
      <p:sp>
        <p:nvSpPr>
          <p:cNvPr id="89" name="Text 87"/>
          <p:cNvSpPr/>
          <p:nvPr/>
        </p:nvSpPr>
        <p:spPr>
          <a:xfrm>
            <a:off x="10916412" y="7726680"/>
            <a:ext cx="1885188" cy="6217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4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A8F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  </a:t>
            </a:r>
            <a:pPr indent="0" marL="0">
              <a:buNone/>
            </a:pP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Modernização</a:t>
            </a:r>
            <a:endParaRPr lang="en-US" sz="1500" dirty="0"/>
          </a:p>
          <a:p>
            <a:pPr indent="0" marL="0">
              <a:buNone/>
            </a:pP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sustentável da plataforma</a:t>
            </a:r>
            <a:endParaRPr lang="en-US" sz="1500" dirty="0"/>
          </a:p>
        </p:txBody>
      </p:sp>
      <p:sp>
        <p:nvSpPr>
          <p:cNvPr id="90" name="Text 88"/>
          <p:cNvSpPr/>
          <p:nvPr/>
        </p:nvSpPr>
        <p:spPr>
          <a:xfrm>
            <a:off x="182880" y="8513064"/>
            <a:ext cx="125730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Cronograma indicativo. Ajustes poderão ser feitos conforme contexto, riscos e dependências. Todos os elementos deste slide são editáveis no PowerPoint.</a:t>
            </a:r>
            <a:endParaRPr lang="en-US" sz="570" dirty="0"/>
          </a:p>
        </p:txBody>
      </p:sp>
      <p:sp>
        <p:nvSpPr>
          <p:cNvPr id="91" name="Shape 89"/>
          <p:cNvSpPr/>
          <p:nvPr/>
        </p:nvSpPr>
        <p:spPr>
          <a:xfrm>
            <a:off x="128016" y="5367528"/>
            <a:ext cx="12673584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2" name="Shape 90"/>
          <p:cNvSpPr/>
          <p:nvPr/>
        </p:nvSpPr>
        <p:spPr>
          <a:xfrm>
            <a:off x="128016" y="7653528"/>
            <a:ext cx="12673584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929616" cy="82296"/>
          </a:xfrm>
          <a:prstGeom prst="rect">
            <a:avLst/>
          </a:prstGeom>
          <a:solidFill>
            <a:srgbClr val="EA5D15"/>
          </a:solidFill>
          <a:ln>
            <a:solidFill>
              <a:srgbClr val="EA5D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yebrow"/>
          <p:cNvSpPr txBox="1"/>
          <p:nvPr/>
        </p:nvSpPr>
        <p:spPr>
          <a:xfrm>
            <a:off x="320040" y="182880"/>
            <a:ext cx="41148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50" b="1">
                <a:solidFill>
                  <a:srgbClr val="5C6978"/>
                </a:solidFill>
                <a:latin typeface="Arial"/>
              </a:rPr>
              <a:t>PROCESSO SELETIVO | RT PRODOPS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320040" y="475488"/>
            <a:ext cx="97840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081F3D"/>
                </a:solidFill>
                <a:latin typeface="Arial"/>
              </a:rPr>
              <a:t>Escolhas, renúncias e governança do plano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320040" y="941832"/>
            <a:ext cx="117043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50" b="0">
                <a:solidFill>
                  <a:srgbClr val="5C6978"/>
                </a:solidFill>
                <a:latin typeface="Arial"/>
              </a:rPr>
              <a:t>A execução dos 180 dias precisa deixar claro o que será priorizado, quem decide e quais evidências provam avanço.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732520"/>
            <a:ext cx="12289536" cy="9144"/>
          </a:xfrm>
          <a:prstGeom prst="rect">
            <a:avLst/>
          </a:prstGeom>
          <a:solidFill>
            <a:srgbClr val="DBE3EB"/>
          </a:solidFill>
          <a:ln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rincipio_1"/>
          <p:cNvSpPr/>
          <p:nvPr/>
        </p:nvSpPr>
        <p:spPr>
          <a:xfrm>
            <a:off x="320040" y="1325880"/>
            <a:ext cx="3977639" cy="804672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EA5D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um_1"/>
          <p:cNvSpPr txBox="1"/>
          <p:nvPr/>
        </p:nvSpPr>
        <p:spPr>
          <a:xfrm>
            <a:off x="411479" y="1417320"/>
            <a:ext cx="347472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393192" y="1408176"/>
            <a:ext cx="384048" cy="384048"/>
          </a:xfrm>
          <a:prstGeom prst="ellipse">
            <a:avLst/>
          </a:prstGeom>
          <a:solidFill>
            <a:srgbClr val="EA5D15"/>
          </a:solidFill>
          <a:ln>
            <a:solidFill>
              <a:srgbClr val="EA5D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426464"/>
            <a:ext cx="384048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399032"/>
            <a:ext cx="3337559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1">
                <a:solidFill>
                  <a:srgbClr val="081F3D"/>
                </a:solidFill>
                <a:latin typeface="Arial"/>
              </a:rPr>
              <a:t>Capacidade real antes de nova demanda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645919"/>
            <a:ext cx="3337559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161F2F"/>
                </a:solidFill>
                <a:latin typeface="Arial"/>
              </a:rPr>
              <a:t>Separar Run x Change x Modernização e negociar trade-offs sem criar capacidade fictícia.</a:t>
            </a:r>
          </a:p>
        </p:txBody>
      </p:sp>
      <p:sp>
        <p:nvSpPr>
          <p:cNvPr id="13" name="principio_2"/>
          <p:cNvSpPr/>
          <p:nvPr/>
        </p:nvSpPr>
        <p:spPr>
          <a:xfrm>
            <a:off x="4462271" y="1325880"/>
            <a:ext cx="3977639" cy="804672"/>
          </a:xfrm>
          <a:prstGeom prst="roundRect">
            <a:avLst/>
          </a:prstGeom>
          <a:solidFill>
            <a:srgbClr val="EBF5FF"/>
          </a:solidFill>
          <a:ln w="12700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um_2"/>
          <p:cNvSpPr txBox="1"/>
          <p:nvPr/>
        </p:nvSpPr>
        <p:spPr>
          <a:xfrm>
            <a:off x="4553711" y="1417320"/>
            <a:ext cx="347472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4535423" y="1408176"/>
            <a:ext cx="384048" cy="384048"/>
          </a:xfrm>
          <a:prstGeom prst="ellipse">
            <a:avLst/>
          </a:prstGeom>
          <a:solidFill>
            <a:srgbClr val="005EB8"/>
          </a:solidFill>
          <a:ln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423" y="1426464"/>
            <a:ext cx="384048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2623" y="1399032"/>
            <a:ext cx="3337559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1">
                <a:solidFill>
                  <a:srgbClr val="081F3D"/>
                </a:solidFill>
                <a:latin typeface="Arial"/>
              </a:rPr>
              <a:t>Valor, risco e custo orientam a prioridade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2623" y="1645919"/>
            <a:ext cx="3337559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161F2F"/>
                </a:solidFill>
                <a:latin typeface="Arial"/>
              </a:rPr>
              <a:t>Modernização e FinOps avançam por evidências, não por lista técnica.</a:t>
            </a:r>
          </a:p>
        </p:txBody>
      </p:sp>
      <p:sp>
        <p:nvSpPr>
          <p:cNvPr id="19" name="principio_3"/>
          <p:cNvSpPr/>
          <p:nvPr/>
        </p:nvSpPr>
        <p:spPr>
          <a:xfrm>
            <a:off x="8604503" y="1325880"/>
            <a:ext cx="3977639" cy="804672"/>
          </a:xfrm>
          <a:prstGeom prst="roundRect">
            <a:avLst/>
          </a:prstGeom>
          <a:solidFill>
            <a:srgbClr val="EAF8F1"/>
          </a:solidFill>
          <a:ln w="12700">
            <a:solidFill>
              <a:srgbClr val="14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um_3"/>
          <p:cNvSpPr txBox="1"/>
          <p:nvPr/>
        </p:nvSpPr>
        <p:spPr>
          <a:xfrm>
            <a:off x="8695943" y="1417320"/>
            <a:ext cx="347472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Oval 20"/>
          <p:cNvSpPr/>
          <p:nvPr/>
        </p:nvSpPr>
        <p:spPr>
          <a:xfrm>
            <a:off x="8677655" y="1408176"/>
            <a:ext cx="384048" cy="384048"/>
          </a:xfrm>
          <a:prstGeom prst="ellipse">
            <a:avLst/>
          </a:prstGeom>
          <a:solidFill>
            <a:srgbClr val="148753"/>
          </a:solidFill>
          <a:ln>
            <a:solidFill>
              <a:srgbClr val="14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77655" y="1426464"/>
            <a:ext cx="384048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5" y="1399032"/>
            <a:ext cx="3337559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1">
                <a:solidFill>
                  <a:srgbClr val="081F3D"/>
                </a:solidFill>
                <a:latin typeface="Arial"/>
              </a:rPr>
              <a:t>Autonomia sustentável do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855" y="1645919"/>
            <a:ext cx="3337559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161F2F"/>
                </a:solidFill>
                <a:latin typeface="Arial"/>
              </a:rPr>
              <a:t>Coordenação cria contexto, limites e cadência; o time assume decisões progressivamente.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2340864"/>
            <a:ext cx="56235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81F3D"/>
                </a:solidFill>
                <a:latin typeface="Arial"/>
              </a:rPr>
              <a:t>Decisões que eu tomaria como coordenação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2697480"/>
            <a:ext cx="27889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/>
            <a:r>
              <a:rPr sz="1300" b="1">
                <a:solidFill>
                  <a:srgbClr val="005EB8"/>
                </a:solidFill>
                <a:latin typeface="Arial"/>
              </a:rPr>
              <a:t>Escolhas de foco</a:t>
            </a:r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t>• Proteger capacidade para transformação</a:t>
            </a:r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t>• Priorizar jornadas críticas e risco operacional</a:t>
            </a:r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t>• Modernizar por ondas até 2028</a:t>
            </a:r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t>• Aplicar IA em problema real, com baseline e métrica</a:t>
            </a:r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t>• Dar visibilidade executiva simples e frequente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46120" y="2697480"/>
            <a:ext cx="2788920" cy="1874519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/>
            <a:r>
              <a:rPr sz="1300" b="1">
                <a:solidFill>
                  <a:srgbClr val="EA5D15"/>
                </a:solidFill>
                <a:latin typeface="Arial"/>
              </a:rPr>
              <a:t>Renúncias explícitas</a:t>
            </a:r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t>• Não modernizar tudo ao mesmo tempo</a:t>
            </a:r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t>• Não aceitar tudo como prioridade</a:t>
            </a:r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t>• Não centralizar decisões operacionais</a:t>
            </a:r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t>• Não manter manualidade sem questionar valor</a:t>
            </a:r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t>• Não escalar IA sem evidência de valor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340864"/>
            <a:ext cx="62636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81F3D"/>
                </a:solidFill>
                <a:latin typeface="Arial"/>
              </a:rPr>
              <a:t>Responsáveis por papel, não por centralização</a:t>
            </a:r>
          </a:p>
        </p:txBody>
      </p:sp>
      <p:sp>
        <p:nvSpPr>
          <p:cNvPr id="29" name="governanca"/>
          <p:cNvSpPr/>
          <p:nvPr/>
        </p:nvSpPr>
        <p:spPr>
          <a:xfrm>
            <a:off x="6263640" y="2697480"/>
            <a:ext cx="6355080" cy="25603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816352"/>
            <a:ext cx="1645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60" b="1">
                <a:solidFill>
                  <a:srgbClr val="081F3D"/>
                </a:solidFill>
                <a:latin typeface="Arial"/>
              </a:rPr>
              <a:t>Frente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2816352"/>
            <a:ext cx="20116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60" b="1">
                <a:solidFill>
                  <a:srgbClr val="081F3D"/>
                </a:solidFill>
                <a:latin typeface="Arial"/>
              </a:rPr>
              <a:t>Owner principal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2816352"/>
            <a:ext cx="23317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60" b="1">
                <a:solidFill>
                  <a:srgbClr val="081F3D"/>
                </a:solidFill>
                <a:latin typeface="Arial"/>
              </a:rPr>
              <a:t>Evidência de avanço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072384"/>
            <a:ext cx="5989320" cy="5486"/>
          </a:xfrm>
          <a:prstGeom prst="rect">
            <a:avLst/>
          </a:prstGeom>
          <a:solidFill>
            <a:srgbClr val="DBE3EB"/>
          </a:solidFill>
          <a:ln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127248"/>
            <a:ext cx="1645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Pessoas/capacidade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3127248"/>
            <a:ext cx="20116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Coordenação + TL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3127248"/>
            <a:ext cx="2331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owners e backups definidos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3383279"/>
            <a:ext cx="5989320" cy="5486"/>
          </a:xfrm>
          <a:prstGeom prst="rect">
            <a:avLst/>
          </a:prstGeom>
          <a:solidFill>
            <a:srgbClr val="DBE3EB"/>
          </a:solidFill>
          <a:ln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438144"/>
            <a:ext cx="1645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Operação/jornadas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3438144"/>
            <a:ext cx="20116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TL + owners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3438144"/>
            <a:ext cx="2331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SLOs, alertas e rotina ativa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694176"/>
            <a:ext cx="5989320" cy="5486"/>
          </a:xfrm>
          <a:prstGeom prst="rect">
            <a:avLst/>
          </a:prstGeom>
          <a:solidFill>
            <a:srgbClr val="DBE3EB"/>
          </a:solidFill>
          <a:ln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3749039"/>
            <a:ext cx="1645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Modernização/FinOps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3749039"/>
            <a:ext cx="20116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Engenharia + Cloud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3749039"/>
            <a:ext cx="2331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ondas, custos e roadmap 2028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005072"/>
            <a:ext cx="5989320" cy="5486"/>
          </a:xfrm>
          <a:prstGeom prst="rect">
            <a:avLst/>
          </a:prstGeom>
          <a:solidFill>
            <a:srgbClr val="DBE3EB"/>
          </a:solidFill>
          <a:ln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4059935"/>
            <a:ext cx="1645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Consumidores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4059935"/>
            <a:ext cx="20116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Produto + Coordenação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4059935"/>
            <a:ext cx="2331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prioridades e trade-offs pactuados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4315968"/>
            <a:ext cx="5989320" cy="5486"/>
          </a:xfrm>
          <a:prstGeom prst="rect">
            <a:avLst/>
          </a:prstGeom>
          <a:solidFill>
            <a:srgbClr val="DBE3EB"/>
          </a:solidFill>
          <a:ln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4370831"/>
            <a:ext cx="1645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IA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20" y="4370831"/>
            <a:ext cx="20116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Owner do time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0" y="4370831"/>
            <a:ext cx="2331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baseline x piloto: fluxo, qualidade e capacidade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4626864"/>
            <a:ext cx="5989320" cy="5486"/>
          </a:xfrm>
          <a:prstGeom prst="rect">
            <a:avLst/>
          </a:prstGeom>
          <a:solidFill>
            <a:srgbClr val="DBE3EB"/>
          </a:solidFill>
          <a:ln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4681727"/>
            <a:ext cx="1645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Fornecedor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0" y="4681727"/>
            <a:ext cx="20116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Coordenação + owner técnico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0" y="4681727"/>
            <a:ext cx="2331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conflitos com rito e escalonamento claro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" y="5440680"/>
            <a:ext cx="12161520" cy="301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81F3D"/>
                </a:solidFill>
                <a:latin typeface="Arial"/>
              </a:rPr>
              <a:t>Indicadores: baseline primeiro; medir fluxo, qualidade e capacidade — inclusive nos experimentos de IA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0040" y="5806440"/>
            <a:ext cx="4005072" cy="1600200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/>
            <a:r>
              <a:rPr sz="1350" b="1">
                <a:solidFill>
                  <a:srgbClr val="EA5D15"/>
                </a:solidFill>
                <a:latin typeface="Arial"/>
              </a:rPr>
              <a:t>D30 | Baseline</a:t>
            </a:r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t>• capacidade Run x Change x Modernização</a:t>
            </a:r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t>• incidentes recorrentes e MTTR</a:t>
            </a:r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t>• custos AWS por workload/jornada</a:t>
            </a:r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t>• concentração de conhecimento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07992" y="5806440"/>
            <a:ext cx="4005072" cy="1600200"/>
          </a:xfrm>
          <a:prstGeom prst="roundRect">
            <a:avLst/>
          </a:prstGeom>
          <a:solidFill>
            <a:srgbClr val="EBF5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/>
            <a:r>
              <a:rPr sz="1350" b="1">
                <a:solidFill>
                  <a:srgbClr val="005EB8"/>
                </a:solidFill>
                <a:latin typeface="Arial"/>
              </a:rPr>
              <a:t>D90 | Tendência</a:t>
            </a:r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t>• quick wins percebidos pelo negócio</a:t>
            </a:r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t>• jornadas críticas mais observáveis</a:t>
            </a:r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t>• piloto de IA medido no fluxo ponta a ponta</a:t>
            </a:r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t>• redução de retrabalho e conflitos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695944" y="5806440"/>
            <a:ext cx="4005072" cy="1600200"/>
          </a:xfrm>
          <a:prstGeom prst="roundRect">
            <a:avLst/>
          </a:prstGeom>
          <a:solidFill>
            <a:srgbClr val="EAF8F1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/>
            <a:r>
              <a:rPr sz="1350" b="1">
                <a:solidFill>
                  <a:srgbClr val="148753"/>
                </a:solidFill>
                <a:latin typeface="Arial"/>
              </a:rPr>
              <a:t>D180 | Resultado</a:t>
            </a:r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t>• time decide mais sem escalonar</a:t>
            </a:r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t>• roadmap 2028 protegido</a:t>
            </a:r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t>• FinOps incorporado à governança</a:t>
            </a:r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t>• operação mais previsível e resiliente</a:t>
            </a:r>
          </a:p>
        </p:txBody>
      </p:sp>
      <p:sp>
        <p:nvSpPr>
          <p:cNvPr id="61" name="statement"/>
          <p:cNvSpPr/>
          <p:nvPr/>
        </p:nvSpPr>
        <p:spPr>
          <a:xfrm>
            <a:off x="320040" y="7635240"/>
            <a:ext cx="12161520" cy="749808"/>
          </a:xfrm>
          <a:prstGeom prst="roundRect">
            <a:avLst/>
          </a:prstGeom>
          <a:solidFill>
            <a:srgbClr val="081F3D"/>
          </a:solidFill>
          <a:ln w="12700">
            <a:solidFill>
              <a:srgbClr val="08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7735824"/>
            <a:ext cx="1170432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Mensagem central: a coordenação não será dona de todas as respostas; será dona do contexto, da priorização, dos limites e da evolução da autonomia do time.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521440" y="8833104"/>
            <a:ext cx="10058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C697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929616" cy="73152"/>
          </a:xfrm>
          <a:prstGeom prst="rect">
            <a:avLst/>
          </a:prstGeom>
          <a:solidFill>
            <a:srgbClr val="F16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1945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800" b="1">
                <a:solidFill>
                  <a:srgbClr val="5D6B7A"/>
                </a:solidFill>
                <a:latin typeface="Arial"/>
              </a:defRPr>
            </a:pPr>
            <a:r>
              <a:t>PROCESSO SELETIVO | RT PRODOPS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12064"/>
            <a:ext cx="1170432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2100" b="1">
                <a:solidFill>
                  <a:srgbClr val="0B1F3A"/>
                </a:solidFill>
                <a:latin typeface="Arial"/>
              </a:defRPr>
            </a:pPr>
            <a:r>
              <a:t>Evidências concretas da minha atuação atual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32688"/>
            <a:ext cx="1179576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960" b="0">
                <a:solidFill>
                  <a:srgbClr val="5D6B7A"/>
                </a:solidFill>
                <a:latin typeface="Arial"/>
              </a:defRPr>
            </a:pPr>
            <a:r>
              <a:t>Exemplos selecionados para mostrar comportamentos que já pratico como Tech Lead e que pretendo ampliar como Coordenador.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61872"/>
            <a:ext cx="12298680" cy="704088"/>
          </a:xfrm>
          <a:prstGeom prst="roundRect">
            <a:avLst/>
          </a:prstGeom>
          <a:solidFill>
            <a:srgbClr val="EAF3FC"/>
          </a:solidFill>
          <a:ln w="1016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869" b="1">
                <a:solidFill>
                  <a:srgbClr val="0B1F3A"/>
                </a:solidFill>
                <a:latin typeface="Arial"/>
              </a:defRPr>
            </a:pPr>
            <a:r>
              <a:t>Minha evolução de atuação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554480"/>
            <a:ext cx="1261872" cy="256032"/>
          </a:xfrm>
          <a:prstGeom prst="roundRect">
            <a:avLst/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1559052"/>
            <a:ext cx="126187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rial"/>
              </a:defRPr>
            </a:pPr>
            <a:r>
              <a:t>Organizo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008" y="1554480"/>
            <a:ext cx="201168" cy="25603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defRPr sz="1200" b="1">
                <a:solidFill>
                  <a:srgbClr val="0B1F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47872" y="1554480"/>
            <a:ext cx="1261872" cy="256032"/>
          </a:xfrm>
          <a:prstGeom prst="roundRect">
            <a:avLst/>
          </a:prstGeom>
          <a:solidFill>
            <a:srgbClr val="E8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559052"/>
            <a:ext cx="126187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rial"/>
              </a:defRPr>
            </a:pPr>
            <a:r>
              <a:t>Direciono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1554480"/>
            <a:ext cx="201168" cy="25603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defRPr sz="1200" b="1">
                <a:solidFill>
                  <a:srgbClr val="0B1F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92624" y="1554480"/>
            <a:ext cx="1261872" cy="256032"/>
          </a:xfrm>
          <a:prstGeom prst="roundRect">
            <a:avLst/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92624" y="1559052"/>
            <a:ext cx="126187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rial"/>
              </a:defRPr>
            </a:pPr>
            <a:r>
              <a:t>Desenvolvo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554480"/>
            <a:ext cx="201168" cy="25603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defRPr sz="1200" b="1">
                <a:solidFill>
                  <a:srgbClr val="0B1F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1554480"/>
            <a:ext cx="1261872" cy="256032"/>
          </a:xfrm>
          <a:prstGeom prst="roundRect">
            <a:avLst/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1559052"/>
            <a:ext cx="126187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rial"/>
              </a:defRPr>
            </a:pPr>
            <a:r>
              <a:t>Delego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27264" y="1554480"/>
            <a:ext cx="201168" cy="25603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defRPr sz="1200" b="1">
                <a:solidFill>
                  <a:srgbClr val="0B1F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82128" y="1554480"/>
            <a:ext cx="1261872" cy="256032"/>
          </a:xfrm>
          <a:prstGeom prst="roundRect">
            <a:avLst/>
          </a:prstGeom>
          <a:solidFill>
            <a:srgbClr val="E8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82128" y="1559052"/>
            <a:ext cx="126187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rial"/>
              </a:defRPr>
            </a:pPr>
            <a:r>
              <a:t>Acompanho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2016" y="1554480"/>
            <a:ext cx="201168" cy="25603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defRPr sz="1200" b="1">
                <a:solidFill>
                  <a:srgbClr val="0B1F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1554480"/>
            <a:ext cx="1261872" cy="256032"/>
          </a:xfrm>
          <a:prstGeom prst="roundRect">
            <a:avLst/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1559052"/>
            <a:ext cx="126187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rial"/>
              </a:defRPr>
            </a:pPr>
            <a:r>
              <a:t>Autonomia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194560"/>
            <a:ext cx="64008" cy="1920240"/>
          </a:xfrm>
          <a:prstGeom prst="rect">
            <a:avLst/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56615" y="2194560"/>
            <a:ext cx="3758184" cy="1920240"/>
          </a:xfrm>
          <a:prstGeom prst="roundRect">
            <a:avLst/>
          </a:prstGeom>
          <a:solidFill>
            <a:srgbClr val="EAF3FC"/>
          </a:solidFill>
          <a:ln w="1016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" y="2286000"/>
            <a:ext cx="3483864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defRPr sz="1120" b="1">
                <a:solidFill>
                  <a:srgbClr val="0B1F3A"/>
                </a:solidFill>
                <a:latin typeface="Arial"/>
              </a:defRPr>
            </a:pPr>
            <a:r>
              <a:t>1. Squad: ownership e autonomia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2670048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674620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Cenário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1288" y="2651760"/>
            <a:ext cx="2788920" cy="3383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Capacidade reduzida, prioridades concorrentes, dependências e acompanhamento próximo.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127248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131820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Ação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1288" y="3108960"/>
            <a:ext cx="2788920" cy="3383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Rotacionei assuntos entre membros, criei donos por demanda e apoiei tecnicamente nos gaps.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3584448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589020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Evid.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" y="3566160"/>
            <a:ext cx="2788920" cy="3383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Mais autonomia, senso de pertencimento e evolução da previsibilidade percebida pela gestão.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70832" y="2194560"/>
            <a:ext cx="64008" cy="1920240"/>
          </a:xfrm>
          <a:prstGeom prst="rect">
            <a:avLst/>
          </a:prstGeom>
          <a:solidFill>
            <a:srgbClr val="E8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407408" y="2194560"/>
            <a:ext cx="3758184" cy="1920240"/>
          </a:xfrm>
          <a:prstGeom prst="roundRect">
            <a:avLst/>
          </a:prstGeom>
          <a:solidFill>
            <a:srgbClr val="FFF0E3"/>
          </a:solidFill>
          <a:ln w="1016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35424" y="2286000"/>
            <a:ext cx="3483864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defRPr sz="1120" b="1">
                <a:solidFill>
                  <a:srgbClr val="0B1F3A"/>
                </a:solidFill>
                <a:latin typeface="Arial"/>
              </a:defRPr>
            </a:pPr>
            <a:r>
              <a:t>2. Performance e conversas difíceis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53712" y="2670048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E8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53712" y="2674620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Cenário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80" y="2651760"/>
            <a:ext cx="2788920" cy="3383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Clima e performance passaram a impactar a Squad e as entregas.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53712" y="3127248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E8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53712" y="3131820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Ação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3108960"/>
            <a:ext cx="2788920" cy="3383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Aprendi que adiar feedback aumenta custo; hoje atuo antes, com transparência e contexto.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53712" y="3584448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E8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53712" y="3589020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Evid.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2080" y="3566160"/>
            <a:ext cx="2788920" cy="3383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Aprendizado gerencial: proteger o coletivo exige conversas difíceis no tempo certo.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21624" y="2194560"/>
            <a:ext cx="64008" cy="1920240"/>
          </a:xfrm>
          <a:prstGeom prst="rect">
            <a:avLst/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458200" y="2194560"/>
            <a:ext cx="3758184" cy="1920240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86216" y="2286000"/>
            <a:ext cx="3483864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defRPr sz="1120" b="1">
                <a:solidFill>
                  <a:srgbClr val="0B1F3A"/>
                </a:solidFill>
                <a:latin typeface="Arial"/>
              </a:defRPr>
            </a:pPr>
            <a:r>
              <a:t>3. Sucessão, owners e backups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04504" y="2670048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04504" y="2674620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Cenário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62872" y="2651760"/>
            <a:ext cx="2788920" cy="3383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Conhecimento e decisões ainda concentrados em algumas pessoas-chave.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04504" y="3127248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04504" y="3131820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Ação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62872" y="3108960"/>
            <a:ext cx="2788920" cy="3383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Deleguei frentes, dei espaço para potenciais sucessores e acompanhei comunicação, visão e urgência.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604504" y="3584448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04504" y="3589020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Evid.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62872" y="3566160"/>
            <a:ext cx="2788920" cy="3383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Liderança mais distribuída e redução gradual da dependência do Tech Lead.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4370832"/>
            <a:ext cx="64008" cy="1920240"/>
          </a:xfrm>
          <a:prstGeom prst="rect">
            <a:avLst/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356615" y="4370832"/>
            <a:ext cx="3758184" cy="1920240"/>
          </a:xfrm>
          <a:prstGeom prst="roundRect">
            <a:avLst/>
          </a:prstGeom>
          <a:solidFill>
            <a:srgbClr val="EAF3FC"/>
          </a:solidFill>
          <a:ln w="1016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4632" y="4462272"/>
            <a:ext cx="3483864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defRPr sz="1120" b="1">
                <a:solidFill>
                  <a:srgbClr val="0B1F3A"/>
                </a:solidFill>
                <a:latin typeface="Arial"/>
              </a:defRPr>
            </a:pPr>
            <a:r>
              <a:t>4. IA aplicada ao trabalho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2920" y="4846320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2920" y="4850892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Cenário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61288" y="4828032"/>
            <a:ext cx="2788920" cy="3383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Adoção desigual de IA: muitos low users e resistência inicial ao uso prático.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02920" y="5303520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2920" y="5308092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Ação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61288" y="5285232"/>
            <a:ext cx="2788920" cy="3383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Conectei Copilot, Devin, Claude, BMAD/HIVE e AI-DLC a problemas reais de delivery.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02920" y="5760720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" y="5765292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Evid.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61288" y="5742432"/>
            <a:ext cx="2788920" cy="3383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Evolução para mais heavy users quando o valor da IA fica concreto no fluxo de trabalho.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70832" y="4370832"/>
            <a:ext cx="64008" cy="1920240"/>
          </a:xfrm>
          <a:prstGeom prst="rect">
            <a:avLst/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4407408" y="4370832"/>
            <a:ext cx="3758184" cy="1920240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35424" y="4462272"/>
            <a:ext cx="3483864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defRPr sz="1120" b="1">
                <a:solidFill>
                  <a:srgbClr val="0B1F3A"/>
                </a:solidFill>
                <a:latin typeface="Arial"/>
              </a:defRPr>
            </a:pPr>
            <a:r>
              <a:t>5. Capacidade, MVPs e renúncia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53712" y="4846320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53712" y="4850892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Cenário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12080" y="4828032"/>
            <a:ext cx="2788920" cy="3383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Demandas concorrentes, pressão por entrega e capacidade limitada.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553712" y="5303520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53712" y="5308092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Ação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212080" y="5285232"/>
            <a:ext cx="2788920" cy="3383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Quebrei Markit/Confirmation em MVPs, explicitando trade-offs para entregar valor tático.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553712" y="5760720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53712" y="5765292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Evid.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212080" y="5742432"/>
            <a:ext cx="2788920" cy="3383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O negócio recebe benefícios antes; os MVPs seguintes reduzem risco e endereçam ajustes.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421624" y="4370832"/>
            <a:ext cx="3794760" cy="1920240"/>
          </a:xfrm>
          <a:prstGeom prst="roundRect">
            <a:avLst/>
          </a:prstGeom>
          <a:solidFill>
            <a:srgbClr val="F7FAFC"/>
          </a:solidFill>
          <a:ln w="1016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604504" y="4480560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1019" b="1">
                <a:solidFill>
                  <a:srgbClr val="0B1F3A"/>
                </a:solidFill>
                <a:latin typeface="Arial"/>
              </a:defRPr>
            </a:pPr>
            <a:r>
              <a:t>Ao final de 180 dias, o time deve decidir sem mim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695944" y="4828032"/>
            <a:ext cx="3291840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defRPr sz="819" b="0">
                <a:solidFill>
                  <a:srgbClr val="1D2939"/>
                </a:solidFill>
                <a:latin typeface="Arial"/>
              </a:defRPr>
            </a:pPr>
            <a:r>
              <a:t>• priorizar incidentes pelos critérios definidos;</a:t>
            </a:r>
            <a:br/>
            <a:r>
              <a:t>• negociar capacidade e trade-offs com contexto;</a:t>
            </a:r>
            <a:br/>
            <a:r>
              <a:t>• conduzir experimentos de IA com métrica;</a:t>
            </a:r>
            <a:br/>
            <a:r>
              <a:t>• propor caminhos técnicos dentro do roadmap;</a:t>
            </a:r>
            <a:br/>
            <a:r>
              <a:t>• escalar só prioridade, risco, orçamento ou conflito entre áreas.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20040" y="6693408"/>
            <a:ext cx="12298680" cy="8229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02920" y="6793992"/>
            <a:ext cx="1193292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Mensagem central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5800" y="7059168"/>
            <a:ext cx="11567160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Eu organizo o contexto → dou direção → desenvolvo pessoas → delego com limites → acompanho por evidências.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5800" y="7342631"/>
            <a:ext cx="1156716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defRPr sz="869" b="0">
                <a:solidFill>
                  <a:srgbClr val="FFFFFF"/>
                </a:solidFill>
                <a:latin typeface="Arial"/>
              </a:defRPr>
            </a:pPr>
            <a:r>
              <a:t>O objetivo é o time funcionar melhor com menos dependência da minha atuação direta.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20040" y="7708392"/>
            <a:ext cx="12298680" cy="53035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48640" y="7790688"/>
            <a:ext cx="118414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defRPr sz="860" b="1">
                <a:solidFill>
                  <a:srgbClr val="0B1F3A"/>
                </a:solidFill>
                <a:latin typeface="Arial"/>
              </a:defRPr>
            </a:pPr>
            <a:r>
              <a:t>Como contar se a banca aprofundar: Cenário → Ação/decisão → Evidência/aprendizado. Manter a narrativa em liderança, decisão, autonomia e resultado — não em detalhe técnico isolado.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20040" y="8622792"/>
            <a:ext cx="12298680" cy="9144"/>
          </a:xfrm>
          <a:prstGeom prst="rect">
            <a:avLst/>
          </a:prstGeom>
          <a:solidFill>
            <a:srgbClr val="CFD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2298680" y="8759952"/>
            <a:ext cx="228600" cy="1097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defRPr sz="650" b="0">
                <a:solidFill>
                  <a:srgbClr val="5D6B7A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Transformação da Plataforma Muroa em 180 dias</dc:title>
  <dc:subject>One-page editável - Transformação da Plataforma Muroa em 180 dias</dc:subject>
  <dc:creator>OpenAI</dc:creator>
  <cp:lastModifiedBy>OpenAI</cp:lastModifiedBy>
  <cp:revision>1</cp:revision>
  <dcterms:created xsi:type="dcterms:W3CDTF">2026-09-19T15:20:53Z</dcterms:created>
  <dcterms:modified xsi:type="dcterms:W3CDTF">2026-09-19T15:20:53Z</dcterms:modified>
</cp:coreProperties>
</file>