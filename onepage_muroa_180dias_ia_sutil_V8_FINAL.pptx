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930188" cy="9144000"/>
  <p:notesSz cx="9144000" cy="129301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180C01-39D0-45CC-B124-BF5AE73ACB9D}" v="43" dt="2026-09-22T11:38:41.6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o Sato" userId="8b5cd5a1ab362708" providerId="LiveId" clId="{01AD31F9-EEE6-45DA-9FDB-9153E52E6986}"/>
    <pc:docChg chg="undo redo custSel addSld delSld modSld">
      <pc:chgData name="Paulo Sato" userId="8b5cd5a1ab362708" providerId="LiveId" clId="{01AD31F9-EEE6-45DA-9FDB-9153E52E6986}" dt="2026-09-22T12:15:41.575" v="1606" actId="113"/>
      <pc:docMkLst>
        <pc:docMk/>
      </pc:docMkLst>
      <pc:sldChg chg="addSp delSp modSp mod">
        <pc:chgData name="Paulo Sato" userId="8b5cd5a1ab362708" providerId="LiveId" clId="{01AD31F9-EEE6-45DA-9FDB-9153E52E6986}" dt="2026-09-22T12:15:36.982" v="1604" actId="403"/>
        <pc:sldMkLst>
          <pc:docMk/>
          <pc:sldMk cId="0" sldId="256"/>
        </pc:sldMkLst>
        <pc:spChg chg="mod">
          <ac:chgData name="Paulo Sato" userId="8b5cd5a1ab362708" providerId="LiveId" clId="{01AD31F9-EEE6-45DA-9FDB-9153E52E6986}" dt="2026-09-20T20:13:32.239" v="20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4:24.298" v="1558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4:24.326" v="1562" actId="276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4:24.282" v="1557" actId="27636"/>
          <ac:spMkLst>
            <pc:docMk/>
            <pc:sldMk cId="0" sldId="256"/>
            <ac:spMk id="8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4:24.312" v="1560" actId="27636"/>
          <ac:spMkLst>
            <pc:docMk/>
            <pc:sldMk cId="0" sldId="256"/>
            <ac:spMk id="9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5:33.731" v="1599" actId="404"/>
          <ac:spMkLst>
            <pc:docMk/>
            <pc:sldMk cId="0" sldId="256"/>
            <ac:spMk id="11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5:36.982" v="1604" actId="403"/>
          <ac:spMkLst>
            <pc:docMk/>
            <pc:sldMk cId="0" sldId="256"/>
            <ac:spMk id="12" creationId="{00000000-0000-0000-0000-000000000000}"/>
          </ac:spMkLst>
        </pc:spChg>
        <pc:spChg chg="mod">
          <ac:chgData name="Paulo Sato" userId="8b5cd5a1ab362708" providerId="LiveId" clId="{01AD31F9-EEE6-45DA-9FDB-9153E52E6986}" dt="2026-09-20T20:44:53.840" v="30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Paulo Sato" userId="8b5cd5a1ab362708" providerId="LiveId" clId="{01AD31F9-EEE6-45DA-9FDB-9153E52E6986}" dt="2026-09-22T10:56:39.651" v="647" actId="20577"/>
          <ac:spMkLst>
            <pc:docMk/>
            <pc:sldMk cId="0" sldId="256"/>
            <ac:spMk id="16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5:36.982" v="1604" actId="403"/>
          <ac:spMkLst>
            <pc:docMk/>
            <pc:sldMk cId="0" sldId="256"/>
            <ac:spMk id="17" creationId="{00000000-0000-0000-0000-000000000000}"/>
          </ac:spMkLst>
        </pc:spChg>
        <pc:spChg chg="mod">
          <ac:chgData name="Paulo Sato" userId="8b5cd5a1ab362708" providerId="LiveId" clId="{01AD31F9-EEE6-45DA-9FDB-9153E52E6986}" dt="2026-09-20T20:53:03.529" v="325" actId="108"/>
          <ac:spMkLst>
            <pc:docMk/>
            <pc:sldMk cId="0" sldId="256"/>
            <ac:spMk id="18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4:24.345" v="1564" actId="2763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5:36.982" v="1604" actId="403"/>
          <ac:spMkLst>
            <pc:docMk/>
            <pc:sldMk cId="0" sldId="256"/>
            <ac:spMk id="21" creationId="{00000000-0000-0000-0000-000000000000}"/>
          </ac:spMkLst>
        </pc:spChg>
        <pc:spChg chg="mod">
          <ac:chgData name="Paulo Sato" userId="8b5cd5a1ab362708" providerId="LiveId" clId="{01AD31F9-EEE6-45DA-9FDB-9153E52E6986}" dt="2026-09-20T20:37:57.364" v="286" actId="20577"/>
          <ac:spMkLst>
            <pc:docMk/>
            <pc:sldMk cId="0" sldId="256"/>
            <ac:spMk id="26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4:24.351" v="1565" actId="27636"/>
          <ac:spMkLst>
            <pc:docMk/>
            <pc:sldMk cId="0" sldId="256"/>
            <ac:spMk id="30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5:32.919" v="1595" actId="6549"/>
          <ac:spMkLst>
            <pc:docMk/>
            <pc:sldMk cId="0" sldId="256"/>
            <ac:spMk id="31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5:36.982" v="1604" actId="403"/>
          <ac:spMkLst>
            <pc:docMk/>
            <pc:sldMk cId="0" sldId="256"/>
            <ac:spMk id="34" creationId="{00000000-0000-0000-0000-000000000000}"/>
          </ac:spMkLst>
        </pc:spChg>
        <pc:spChg chg="mod">
          <ac:chgData name="Paulo Sato" userId="8b5cd5a1ab362708" providerId="LiveId" clId="{01AD31F9-EEE6-45DA-9FDB-9153E52E6986}" dt="2026-09-22T10:55:52.294" v="630" actId="6549"/>
          <ac:spMkLst>
            <pc:docMk/>
            <pc:sldMk cId="0" sldId="256"/>
            <ac:spMk id="38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4:24.235" v="1554" actId="27636"/>
          <ac:spMkLst>
            <pc:docMk/>
            <pc:sldMk cId="0" sldId="256"/>
            <ac:spMk id="40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5:31.909" v="1592" actId="6549"/>
          <ac:spMkLst>
            <pc:docMk/>
            <pc:sldMk cId="0" sldId="256"/>
            <ac:spMk id="41" creationId="{00000000-0000-0000-0000-000000000000}"/>
          </ac:spMkLst>
        </pc:spChg>
        <pc:spChg chg="mod">
          <ac:chgData name="Paulo Sato" userId="8b5cd5a1ab362708" providerId="LiveId" clId="{01AD31F9-EEE6-45DA-9FDB-9153E52E6986}" dt="2026-09-20T20:36:23.460" v="255" actId="108"/>
          <ac:spMkLst>
            <pc:docMk/>
            <pc:sldMk cId="0" sldId="256"/>
            <ac:spMk id="42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4:24.266" v="1556" actId="27636"/>
          <ac:spMkLst>
            <pc:docMk/>
            <pc:sldMk cId="0" sldId="256"/>
            <ac:spMk id="50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5:32.342" v="1593" actId="6549"/>
          <ac:spMkLst>
            <pc:docMk/>
            <pc:sldMk cId="0" sldId="256"/>
            <ac:spMk id="51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5:36.982" v="1604" actId="403"/>
          <ac:spMkLst>
            <pc:docMk/>
            <pc:sldMk cId="0" sldId="256"/>
            <ac:spMk id="55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5:36.982" v="1604" actId="403"/>
          <ac:spMkLst>
            <pc:docMk/>
            <pc:sldMk cId="0" sldId="256"/>
            <ac:spMk id="58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4:24.320" v="1561" actId="27636"/>
          <ac:spMkLst>
            <pc:docMk/>
            <pc:sldMk cId="0" sldId="256"/>
            <ac:spMk id="60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5:36.982" v="1604" actId="403"/>
          <ac:spMkLst>
            <pc:docMk/>
            <pc:sldMk cId="0" sldId="256"/>
            <ac:spMk id="66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5:36.982" v="1604" actId="403"/>
          <ac:spMkLst>
            <pc:docMk/>
            <pc:sldMk cId="0" sldId="256"/>
            <ac:spMk id="68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4:27.373" v="1579" actId="27636"/>
          <ac:spMkLst>
            <pc:docMk/>
            <pc:sldMk cId="0" sldId="256"/>
            <ac:spMk id="78" creationId="{00000000-0000-0000-0000-000000000000}"/>
          </ac:spMkLst>
        </pc:spChg>
        <pc:spChg chg="mod">
          <ac:chgData name="Paulo Sato" userId="8b5cd5a1ab362708" providerId="LiveId" clId="{01AD31F9-EEE6-45DA-9FDB-9153E52E6986}" dt="2026-09-20T20:13:32.199" v="19" actId="27636"/>
          <ac:spMkLst>
            <pc:docMk/>
            <pc:sldMk cId="0" sldId="256"/>
            <ac:spMk id="79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4:27.311" v="1574" actId="27636"/>
          <ac:spMkLst>
            <pc:docMk/>
            <pc:sldMk cId="0" sldId="256"/>
            <ac:spMk id="80" creationId="{00000000-0000-0000-0000-000000000000}"/>
          </ac:spMkLst>
        </pc:spChg>
        <pc:spChg chg="mod">
          <ac:chgData name="Paulo Sato" userId="8b5cd5a1ab362708" providerId="LiveId" clId="{01AD31F9-EEE6-45DA-9FDB-9153E52E6986}" dt="2026-09-20T20:13:32.199" v="18" actId="27636"/>
          <ac:spMkLst>
            <pc:docMk/>
            <pc:sldMk cId="0" sldId="256"/>
            <ac:spMk id="81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4:27.359" v="1578" actId="27636"/>
          <ac:spMkLst>
            <pc:docMk/>
            <pc:sldMk cId="0" sldId="256"/>
            <ac:spMk id="82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4:27.327" v="1575" actId="27636"/>
          <ac:spMkLst>
            <pc:docMk/>
            <pc:sldMk cId="0" sldId="256"/>
            <ac:spMk id="84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5:36.982" v="1604" actId="403"/>
          <ac:spMkLst>
            <pc:docMk/>
            <pc:sldMk cId="0" sldId="256"/>
            <ac:spMk id="85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4:27.327" v="1576" actId="27636"/>
          <ac:spMkLst>
            <pc:docMk/>
            <pc:sldMk cId="0" sldId="256"/>
            <ac:spMk id="86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5:36.982" v="1604" actId="403"/>
          <ac:spMkLst>
            <pc:docMk/>
            <pc:sldMk cId="0" sldId="256"/>
            <ac:spMk id="87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4:27.389" v="1581" actId="27636"/>
          <ac:spMkLst>
            <pc:docMk/>
            <pc:sldMk cId="0" sldId="256"/>
            <ac:spMk id="88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4:27.373" v="1580" actId="27636"/>
          <ac:spMkLst>
            <pc:docMk/>
            <pc:sldMk cId="0" sldId="256"/>
            <ac:spMk id="89" creationId="{00000000-0000-0000-0000-000000000000}"/>
          </ac:spMkLst>
        </pc:spChg>
      </pc:sldChg>
      <pc:sldChg chg="addSp delSp modSp mod">
        <pc:chgData name="Paulo Sato" userId="8b5cd5a1ab362708" providerId="LiveId" clId="{01AD31F9-EEE6-45DA-9FDB-9153E52E6986}" dt="2026-09-22T12:15:41.575" v="1606" actId="113"/>
        <pc:sldMkLst>
          <pc:docMk/>
          <pc:sldMk cId="0" sldId="257"/>
        </pc:sldMkLst>
        <pc:spChg chg="mod">
          <ac:chgData name="Paulo Sato" userId="8b5cd5a1ab362708" providerId="LiveId" clId="{01AD31F9-EEE6-45DA-9FDB-9153E52E6986}" dt="2026-09-20T20:25:42.167" v="115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Paulo Sato" userId="8b5cd5a1ab362708" providerId="LiveId" clId="{01AD31F9-EEE6-45DA-9FDB-9153E52E6986}" dt="2026-09-22T11:37:48.794" v="1536" actId="20577"/>
          <ac:spMkLst>
            <pc:docMk/>
            <pc:sldMk cId="0" sldId="257"/>
            <ac:spMk id="26" creationId="{00000000-0000-0000-0000-000000000000}"/>
          </ac:spMkLst>
        </pc:spChg>
        <pc:spChg chg="mod">
          <ac:chgData name="Paulo Sato" userId="8b5cd5a1ab362708" providerId="LiveId" clId="{01AD31F9-EEE6-45DA-9FDB-9153E52E6986}" dt="2026-09-22T10:50:51.522" v="485" actId="14100"/>
          <ac:spMkLst>
            <pc:docMk/>
            <pc:sldMk cId="0" sldId="257"/>
            <ac:spMk id="27" creationId="{00000000-0000-0000-0000-000000000000}"/>
          </ac:spMkLst>
        </pc:spChg>
        <pc:spChg chg="mod">
          <ac:chgData name="Paulo Sato" userId="8b5cd5a1ab362708" providerId="LiveId" clId="{01AD31F9-EEE6-45DA-9FDB-9153E52E6986}" dt="2026-09-22T11:18:37.388" v="1293" actId="1076"/>
          <ac:spMkLst>
            <pc:docMk/>
            <pc:sldMk cId="0" sldId="257"/>
            <ac:spMk id="29" creationId="{00000000-0000-0000-0000-000000000000}"/>
          </ac:spMkLst>
        </pc:spChg>
        <pc:spChg chg="mod">
          <ac:chgData name="Paulo Sato" userId="8b5cd5a1ab362708" providerId="LiveId" clId="{01AD31F9-EEE6-45DA-9FDB-9153E52E6986}" dt="2026-09-22T11:18:50.684" v="1321" actId="1036"/>
          <ac:spMkLst>
            <pc:docMk/>
            <pc:sldMk cId="0" sldId="257"/>
            <ac:spMk id="31" creationId="{00000000-0000-0000-0000-000000000000}"/>
          </ac:spMkLst>
        </pc:spChg>
        <pc:spChg chg="mod">
          <ac:chgData name="Paulo Sato" userId="8b5cd5a1ab362708" providerId="LiveId" clId="{01AD31F9-EEE6-45DA-9FDB-9153E52E6986}" dt="2026-09-22T11:18:50.684" v="1321" actId="103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Paulo Sato" userId="8b5cd5a1ab362708" providerId="LiveId" clId="{01AD31F9-EEE6-45DA-9FDB-9153E52E6986}" dt="2026-09-22T11:18:50.684" v="1321" actId="1036"/>
          <ac:spMkLst>
            <pc:docMk/>
            <pc:sldMk cId="0" sldId="257"/>
            <ac:spMk id="33" creationId="{00000000-0000-0000-0000-000000000000}"/>
          </ac:spMkLst>
        </pc:spChg>
        <pc:spChg chg="mod">
          <ac:chgData name="Paulo Sato" userId="8b5cd5a1ab362708" providerId="LiveId" clId="{01AD31F9-EEE6-45DA-9FDB-9153E52E6986}" dt="2026-09-22T11:18:50.684" v="1321" actId="1036"/>
          <ac:spMkLst>
            <pc:docMk/>
            <pc:sldMk cId="0" sldId="257"/>
            <ac:spMk id="34" creationId="{00000000-0000-0000-0000-000000000000}"/>
          </ac:spMkLst>
        </pc:spChg>
        <pc:spChg chg="mod">
          <ac:chgData name="Paulo Sato" userId="8b5cd5a1ab362708" providerId="LiveId" clId="{01AD31F9-EEE6-45DA-9FDB-9153E52E6986}" dt="2026-09-22T11:06:54.903" v="713" actId="20577"/>
          <ac:spMkLst>
            <pc:docMk/>
            <pc:sldMk cId="0" sldId="257"/>
            <ac:spMk id="35" creationId="{00000000-0000-0000-0000-000000000000}"/>
          </ac:spMkLst>
        </pc:spChg>
        <pc:spChg chg="mod">
          <ac:chgData name="Paulo Sato" userId="8b5cd5a1ab362708" providerId="LiveId" clId="{01AD31F9-EEE6-45DA-9FDB-9153E52E6986}" dt="2026-09-22T11:07:15.229" v="754" actId="20577"/>
          <ac:spMkLst>
            <pc:docMk/>
            <pc:sldMk cId="0" sldId="257"/>
            <ac:spMk id="36" creationId="{00000000-0000-0000-0000-000000000000}"/>
          </ac:spMkLst>
        </pc:spChg>
        <pc:spChg chg="mod">
          <ac:chgData name="Paulo Sato" userId="8b5cd5a1ab362708" providerId="LiveId" clId="{01AD31F9-EEE6-45DA-9FDB-9153E52E6986}" dt="2026-09-22T11:07:50.493" v="785" actId="20577"/>
          <ac:spMkLst>
            <pc:docMk/>
            <pc:sldMk cId="0" sldId="257"/>
            <ac:spMk id="39" creationId="{00000000-0000-0000-0000-000000000000}"/>
          </ac:spMkLst>
        </pc:spChg>
        <pc:spChg chg="mod">
          <ac:chgData name="Paulo Sato" userId="8b5cd5a1ab362708" providerId="LiveId" clId="{01AD31F9-EEE6-45DA-9FDB-9153E52E6986}" dt="2026-09-22T11:18:50.684" v="1321" actId="1036"/>
          <ac:spMkLst>
            <pc:docMk/>
            <pc:sldMk cId="0" sldId="257"/>
            <ac:spMk id="40" creationId="{00000000-0000-0000-0000-000000000000}"/>
          </ac:spMkLst>
        </pc:spChg>
        <pc:spChg chg="mod">
          <ac:chgData name="Paulo Sato" userId="8b5cd5a1ab362708" providerId="LiveId" clId="{01AD31F9-EEE6-45DA-9FDB-9153E52E6986}" dt="2026-09-22T11:10:18.716" v="921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Paulo Sato" userId="8b5cd5a1ab362708" providerId="LiveId" clId="{01AD31F9-EEE6-45DA-9FDB-9153E52E6986}" dt="2026-09-22T11:11:23.106" v="1031" actId="1035"/>
          <ac:spMkLst>
            <pc:docMk/>
            <pc:sldMk cId="0" sldId="257"/>
            <ac:spMk id="44" creationId="{00000000-0000-0000-0000-000000000000}"/>
          </ac:spMkLst>
        </pc:spChg>
        <pc:spChg chg="mod">
          <ac:chgData name="Paulo Sato" userId="8b5cd5a1ab362708" providerId="LiveId" clId="{01AD31F9-EEE6-45DA-9FDB-9153E52E6986}" dt="2026-09-22T11:14:42.197" v="1204" actId="20577"/>
          <ac:spMkLst>
            <pc:docMk/>
            <pc:sldMk cId="0" sldId="257"/>
            <ac:spMk id="47" creationId="{00000000-0000-0000-0000-000000000000}"/>
          </ac:spMkLst>
        </pc:spChg>
        <pc:spChg chg="mod">
          <ac:chgData name="Paulo Sato" userId="8b5cd5a1ab362708" providerId="LiveId" clId="{01AD31F9-EEE6-45DA-9FDB-9153E52E6986}" dt="2026-09-22T11:12:13.138" v="1066" actId="14100"/>
          <ac:spMkLst>
            <pc:docMk/>
            <pc:sldMk cId="0" sldId="257"/>
            <ac:spMk id="48" creationId="{00000000-0000-0000-0000-000000000000}"/>
          </ac:spMkLst>
        </pc:spChg>
        <pc:spChg chg="mod">
          <ac:chgData name="Paulo Sato" userId="8b5cd5a1ab362708" providerId="LiveId" clId="{01AD31F9-EEE6-45DA-9FDB-9153E52E6986}" dt="2026-09-22T11:18:50.684" v="1321" actId="1036"/>
          <ac:spMkLst>
            <pc:docMk/>
            <pc:sldMk cId="0" sldId="257"/>
            <ac:spMk id="49" creationId="{00000000-0000-0000-0000-000000000000}"/>
          </ac:spMkLst>
        </pc:spChg>
        <pc:spChg chg="mod">
          <ac:chgData name="Paulo Sato" userId="8b5cd5a1ab362708" providerId="LiveId" clId="{01AD31F9-EEE6-45DA-9FDB-9153E52E6986}" dt="2026-09-22T11:18:50.684" v="1321" actId="1036"/>
          <ac:spMkLst>
            <pc:docMk/>
            <pc:sldMk cId="0" sldId="257"/>
            <ac:spMk id="50" creationId="{00000000-0000-0000-0000-000000000000}"/>
          </ac:spMkLst>
        </pc:spChg>
        <pc:spChg chg="mod">
          <ac:chgData name="Paulo Sato" userId="8b5cd5a1ab362708" providerId="LiveId" clId="{01AD31F9-EEE6-45DA-9FDB-9153E52E6986}" dt="2026-09-22T11:14:40.841" v="1203"/>
          <ac:spMkLst>
            <pc:docMk/>
            <pc:sldMk cId="0" sldId="257"/>
            <ac:spMk id="51" creationId="{00000000-0000-0000-0000-000000000000}"/>
          </ac:spMkLst>
        </pc:spChg>
        <pc:spChg chg="mod">
          <ac:chgData name="Paulo Sato" userId="8b5cd5a1ab362708" providerId="LiveId" clId="{01AD31F9-EEE6-45DA-9FDB-9153E52E6986}" dt="2026-09-22T11:18:50.684" v="1321" actId="1036"/>
          <ac:spMkLst>
            <pc:docMk/>
            <pc:sldMk cId="0" sldId="257"/>
            <ac:spMk id="52" creationId="{00000000-0000-0000-0000-000000000000}"/>
          </ac:spMkLst>
        </pc:spChg>
        <pc:spChg chg="mod">
          <ac:chgData name="Paulo Sato" userId="8b5cd5a1ab362708" providerId="LiveId" clId="{01AD31F9-EEE6-45DA-9FDB-9153E52E6986}" dt="2026-09-22T11:18:50.684" v="1321" actId="1036"/>
          <ac:spMkLst>
            <pc:docMk/>
            <pc:sldMk cId="0" sldId="257"/>
            <ac:spMk id="53" creationId="{00000000-0000-0000-0000-000000000000}"/>
          </ac:spMkLst>
        </pc:spChg>
        <pc:spChg chg="mod">
          <ac:chgData name="Paulo Sato" userId="8b5cd5a1ab362708" providerId="LiveId" clId="{01AD31F9-EEE6-45DA-9FDB-9153E52E6986}" dt="2026-09-20T20:16:45.249" v="56"/>
          <ac:spMkLst>
            <pc:docMk/>
            <pc:sldMk cId="0" sldId="257"/>
            <ac:spMk id="55" creationId="{00000000-0000-0000-0000-000000000000}"/>
          </ac:spMkLst>
        </pc:spChg>
        <pc:spChg chg="mod">
          <ac:chgData name="Paulo Sato" userId="8b5cd5a1ab362708" providerId="LiveId" clId="{01AD31F9-EEE6-45DA-9FDB-9153E52E6986}" dt="2026-09-22T11:18:50.684" v="1321" actId="1036"/>
          <ac:spMkLst>
            <pc:docMk/>
            <pc:sldMk cId="0" sldId="257"/>
            <ac:spMk id="56" creationId="{00000000-0000-0000-0000-000000000000}"/>
          </ac:spMkLst>
        </pc:spChg>
        <pc:spChg chg="mod">
          <ac:chgData name="Paulo Sato" userId="8b5cd5a1ab362708" providerId="LiveId" clId="{01AD31F9-EEE6-45DA-9FDB-9153E52E6986}" dt="2026-09-20T20:25:01.864" v="105" actId="6549"/>
          <ac:spMkLst>
            <pc:docMk/>
            <pc:sldMk cId="0" sldId="257"/>
            <ac:spMk id="58" creationId="{00000000-0000-0000-0000-000000000000}"/>
          </ac:spMkLst>
        </pc:spChg>
        <pc:spChg chg="mod">
          <ac:chgData name="Paulo Sato" userId="8b5cd5a1ab362708" providerId="LiveId" clId="{01AD31F9-EEE6-45DA-9FDB-9153E52E6986}" dt="2026-09-22T11:38:41.612" v="1537"/>
          <ac:spMkLst>
            <pc:docMk/>
            <pc:sldMk cId="0" sldId="257"/>
            <ac:spMk id="60" creationId="{00000000-0000-0000-0000-000000000000}"/>
          </ac:spMkLst>
        </pc:spChg>
        <pc:spChg chg="mod">
          <ac:chgData name="Paulo Sato" userId="8b5cd5a1ab362708" providerId="LiveId" clId="{01AD31F9-EEE6-45DA-9FDB-9153E52E6986}" dt="2026-09-22T12:15:41.575" v="1606" actId="113"/>
          <ac:spMkLst>
            <pc:docMk/>
            <pc:sldMk cId="0" sldId="257"/>
            <ac:spMk id="62" creationId="{00000000-0000-0000-0000-000000000000}"/>
          </ac:spMkLst>
        </pc:spChg>
        <pc:spChg chg="del">
          <ac:chgData name="Paulo Sato" userId="8b5cd5a1ab362708" providerId="LiveId" clId="{01AD31F9-EEE6-45DA-9FDB-9153E52E6986}" dt="2026-09-22T11:17:10.841" v="1290" actId="478"/>
          <ac:spMkLst>
            <pc:docMk/>
            <pc:sldMk cId="0" sldId="257"/>
            <ac:spMk id="64" creationId="{33B31D59-04A8-11D5-FFB7-7CF7BF65B637}"/>
          </ac:spMkLst>
        </pc:spChg>
        <pc:spChg chg="add mod">
          <ac:chgData name="Paulo Sato" userId="8b5cd5a1ab362708" providerId="LiveId" clId="{01AD31F9-EEE6-45DA-9FDB-9153E52E6986}" dt="2026-09-22T11:20:54.325" v="1438" actId="20577"/>
          <ac:spMkLst>
            <pc:docMk/>
            <pc:sldMk cId="0" sldId="257"/>
            <ac:spMk id="66" creationId="{C0F02FF0-D897-E9B2-6B5D-88ACE77EB0A4}"/>
          </ac:spMkLst>
        </pc:spChg>
        <pc:spChg chg="add del mod">
          <ac:chgData name="Paulo Sato" userId="8b5cd5a1ab362708" providerId="LiveId" clId="{01AD31F9-EEE6-45DA-9FDB-9153E52E6986}" dt="2026-09-22T11:07:54.482" v="786" actId="478"/>
          <ac:spMkLst>
            <pc:docMk/>
            <pc:sldMk cId="0" sldId="257"/>
            <ac:spMk id="70" creationId="{4AD05792-42DD-4FD8-0F33-EDE138B239D9}"/>
          </ac:spMkLst>
        </pc:spChg>
      </pc:sldChg>
      <pc:sldChg chg="addSp delSp modSp mod setBg">
        <pc:chgData name="Paulo Sato" userId="8b5cd5a1ab362708" providerId="LiveId" clId="{01AD31F9-EEE6-45DA-9FDB-9153E52E6986}" dt="2026-09-22T11:01:55.880" v="690" actId="20577"/>
        <pc:sldMkLst>
          <pc:docMk/>
          <pc:sldMk cId="0" sldId="258"/>
        </pc:sldMkLst>
        <pc:spChg chg="mod">
          <ac:chgData name="Paulo Sato" userId="8b5cd5a1ab362708" providerId="LiveId" clId="{01AD31F9-EEE6-45DA-9FDB-9153E52E6986}" dt="2026-09-22T11:01:55.880" v="690" actId="20577"/>
          <ac:spMkLst>
            <pc:docMk/>
            <pc:sldMk cId="0" sldId="258"/>
            <ac:spMk id="45" creationId="{00000000-0000-0000-0000-000000000000}"/>
          </ac:spMkLst>
        </pc:spChg>
        <pc:spChg chg="mod">
          <ac:chgData name="Paulo Sato" userId="8b5cd5a1ab362708" providerId="LiveId" clId="{01AD31F9-EEE6-45DA-9FDB-9153E52E6986}" dt="2026-09-20T20:27:13.346" v="131" actId="20577"/>
          <ac:spMkLst>
            <pc:docMk/>
            <pc:sldMk cId="0" sldId="258"/>
            <ac:spMk id="69" creationId="{00000000-0000-0000-0000-000000000000}"/>
          </ac:spMkLst>
        </pc:spChg>
        <pc:spChg chg="mod">
          <ac:chgData name="Paulo Sato" userId="8b5cd5a1ab362708" providerId="LiveId" clId="{01AD31F9-EEE6-45DA-9FDB-9153E52E6986}" dt="2026-09-20T20:42:02.690" v="294" actId="20577"/>
          <ac:spMkLst>
            <pc:docMk/>
            <pc:sldMk cId="0" sldId="258"/>
            <ac:spMk id="81" creationId="{00000000-0000-0000-0000-000000000000}"/>
          </ac:spMkLst>
        </pc:spChg>
        <pc:spChg chg="mod">
          <ac:chgData name="Paulo Sato" userId="8b5cd5a1ab362708" providerId="LiveId" clId="{01AD31F9-EEE6-45DA-9FDB-9153E52E6986}" dt="2026-09-20T20:31:12.890" v="199" actId="14100"/>
          <ac:spMkLst>
            <pc:docMk/>
            <pc:sldMk cId="0" sldId="258"/>
            <ac:spMk id="88" creationId="{00000000-0000-0000-0000-000000000000}"/>
          </ac:spMkLst>
        </pc:spChg>
        <pc:spChg chg="mod">
          <ac:chgData name="Paulo Sato" userId="8b5cd5a1ab362708" providerId="LiveId" clId="{01AD31F9-EEE6-45DA-9FDB-9153E52E6986}" dt="2026-09-20T20:30:56.151" v="192" actId="404"/>
          <ac:spMkLst>
            <pc:docMk/>
            <pc:sldMk cId="0" sldId="258"/>
            <ac:spMk id="89" creationId="{00000000-0000-0000-0000-000000000000}"/>
          </ac:spMkLst>
        </pc:spChg>
        <pc:spChg chg="mod">
          <ac:chgData name="Paulo Sato" userId="8b5cd5a1ab362708" providerId="LiveId" clId="{01AD31F9-EEE6-45DA-9FDB-9153E52E6986}" dt="2026-09-20T20:31:09.434" v="198" actId="6549"/>
          <ac:spMkLst>
            <pc:docMk/>
            <pc:sldMk cId="0" sldId="258"/>
            <ac:spMk id="91" creationId="{00000000-0000-0000-0000-000000000000}"/>
          </ac:spMkLst>
        </pc:spChg>
        <pc:spChg chg="add del mod">
          <ac:chgData name="Paulo Sato" userId="8b5cd5a1ab362708" providerId="LiveId" clId="{01AD31F9-EEE6-45DA-9FDB-9153E52E6986}" dt="2026-09-20T20:30:10.574" v="162" actId="478"/>
          <ac:spMkLst>
            <pc:docMk/>
            <pc:sldMk cId="0" sldId="258"/>
            <ac:spMk id="94" creationId="{00000000-0000-0000-0000-000000000000}"/>
          </ac:spMkLst>
        </pc:spChg>
      </pc:sldChg>
      <pc:sldChg chg="addSp delSp modSp add del mod">
        <pc:chgData name="Paulo Sato" userId="8b5cd5a1ab362708" providerId="LiveId" clId="{01AD31F9-EEE6-45DA-9FDB-9153E52E6986}" dt="2026-09-22T11:49:35.201" v="1538" actId="47"/>
        <pc:sldMkLst>
          <pc:docMk/>
          <pc:sldMk cId="0" sldId="259"/>
        </pc:sldMkLst>
        <pc:spChg chg="mod">
          <ac:chgData name="Paulo Sato" userId="8b5cd5a1ab362708" providerId="LiveId" clId="{01AD31F9-EEE6-45DA-9FDB-9153E52E6986}" dt="2026-09-22T11:23:09.252" v="1459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Paulo Sato" userId="8b5cd5a1ab362708" providerId="LiveId" clId="{01AD31F9-EEE6-45DA-9FDB-9153E52E6986}" dt="2026-09-22T11:25:59.841" v="1474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Paulo Sato" userId="8b5cd5a1ab362708" providerId="LiveId" clId="{01AD31F9-EEE6-45DA-9FDB-9153E52E6986}" dt="2026-09-22T11:29:36.732" v="1534" actId="108"/>
          <ac:spMkLst>
            <pc:docMk/>
            <pc:sldMk cId="0" sldId="259"/>
            <ac:spMk id="40" creationId="{00000000-0000-0000-0000-000000000000}"/>
          </ac:spMkLst>
        </pc:spChg>
        <pc:spChg chg="mod">
          <ac:chgData name="Paulo Sato" userId="8b5cd5a1ab362708" providerId="LiveId" clId="{01AD31F9-EEE6-45DA-9FDB-9153E52E6986}" dt="2026-09-22T11:29:08.963" v="1527" actId="207"/>
          <ac:spMkLst>
            <pc:docMk/>
            <pc:sldMk cId="0" sldId="259"/>
            <ac:spMk id="41" creationId="{00000000-0000-0000-0000-000000000000}"/>
          </ac:spMkLst>
        </pc:spChg>
        <pc:spChg chg="mod">
          <ac:chgData name="Paulo Sato" userId="8b5cd5a1ab362708" providerId="LiveId" clId="{01AD31F9-EEE6-45DA-9FDB-9153E52E6986}" dt="2026-09-22T11:29:26.685" v="1530" actId="207"/>
          <ac:spMkLst>
            <pc:docMk/>
            <pc:sldMk cId="0" sldId="259"/>
            <ac:spMk id="42" creationId="{00000000-0000-0000-0000-000000000000}"/>
          </ac:spMkLst>
        </pc:spChg>
        <pc:spChg chg="mod">
          <ac:chgData name="Paulo Sato" userId="8b5cd5a1ab362708" providerId="LiveId" clId="{01AD31F9-EEE6-45DA-9FDB-9153E52E6986}" dt="2026-09-22T11:29:24.263" v="1529" actId="207"/>
          <ac:spMkLst>
            <pc:docMk/>
            <pc:sldMk cId="0" sldId="259"/>
            <ac:spMk id="43" creationId="{00000000-0000-0000-0000-000000000000}"/>
          </ac:spMkLst>
        </pc:spChg>
        <pc:spChg chg="mod">
          <ac:chgData name="Paulo Sato" userId="8b5cd5a1ab362708" providerId="LiveId" clId="{01AD31F9-EEE6-45DA-9FDB-9153E52E6986}" dt="2026-09-22T11:29:21.968" v="1528" actId="207"/>
          <ac:spMkLst>
            <pc:docMk/>
            <pc:sldMk cId="0" sldId="259"/>
            <ac:spMk id="44" creationId="{00000000-0000-0000-0000-000000000000}"/>
          </ac:spMkLst>
        </pc:spChg>
        <pc:spChg chg="del">
          <ac:chgData name="Paulo Sato" userId="8b5cd5a1ab362708" providerId="LiveId" clId="{01AD31F9-EEE6-45DA-9FDB-9153E52E6986}" dt="2026-09-22T11:28:10.653" v="1519" actId="478"/>
          <ac:spMkLst>
            <pc:docMk/>
            <pc:sldMk cId="0" sldId="259"/>
            <ac:spMk id="45" creationId="{00000000-0000-0000-0000-000000000000}"/>
          </ac:spMkLst>
        </pc:spChg>
        <pc:spChg chg="del mod">
          <ac:chgData name="Paulo Sato" userId="8b5cd5a1ab362708" providerId="LiveId" clId="{01AD31F9-EEE6-45DA-9FDB-9153E52E6986}" dt="2026-09-22T11:28:13.747" v="1521" actId="478"/>
          <ac:spMkLst>
            <pc:docMk/>
            <pc:sldMk cId="0" sldId="259"/>
            <ac:spMk id="46" creationId="{00000000-0000-0000-0000-000000000000}"/>
          </ac:spMkLst>
        </pc:spChg>
        <pc:spChg chg="del mod">
          <ac:chgData name="Paulo Sato" userId="8b5cd5a1ab362708" providerId="LiveId" clId="{01AD31F9-EEE6-45DA-9FDB-9153E52E6986}" dt="2026-09-22T11:28:13.747" v="1521" actId="478"/>
          <ac:spMkLst>
            <pc:docMk/>
            <pc:sldMk cId="0" sldId="259"/>
            <ac:spMk id="47" creationId="{00000000-0000-0000-0000-000000000000}"/>
          </ac:spMkLst>
        </pc:spChg>
        <pc:spChg chg="add del mod">
          <ac:chgData name="Paulo Sato" userId="8b5cd5a1ab362708" providerId="LiveId" clId="{01AD31F9-EEE6-45DA-9FDB-9153E52E6986}" dt="2026-09-22T11:23:21.181" v="1460" actId="478"/>
          <ac:spMkLst>
            <pc:docMk/>
            <pc:sldMk cId="0" sldId="259"/>
            <ac:spMk id="50" creationId="{67790650-A71B-B5D7-0154-418CD5843AB2}"/>
          </ac:spMkLst>
        </pc:spChg>
        <pc:spChg chg="add">
          <ac:chgData name="Paulo Sato" userId="8b5cd5a1ab362708" providerId="LiveId" clId="{01AD31F9-EEE6-45DA-9FDB-9153E52E6986}" dt="2026-09-22T11:24:56.356" v="1461" actId="22"/>
          <ac:spMkLst>
            <pc:docMk/>
            <pc:sldMk cId="0" sldId="259"/>
            <ac:spMk id="51" creationId="{6BB7ADBE-D068-A40B-9EE3-56500CAF58BE}"/>
          </ac:spMkLst>
        </pc:spChg>
        <pc:spChg chg="add mod">
          <ac:chgData name="Paulo Sato" userId="8b5cd5a1ab362708" providerId="LiveId" clId="{01AD31F9-EEE6-45DA-9FDB-9153E52E6986}" dt="2026-09-22T11:28:23.294" v="1522" actId="1076"/>
          <ac:spMkLst>
            <pc:docMk/>
            <pc:sldMk cId="0" sldId="259"/>
            <ac:spMk id="53" creationId="{1FDE349B-6CFB-59DB-ECD6-8665CDBF54ED}"/>
          </ac:spMkLst>
        </pc:spChg>
        <pc:spChg chg="add mod">
          <ac:chgData name="Paulo Sato" userId="8b5cd5a1ab362708" providerId="LiveId" clId="{01AD31F9-EEE6-45DA-9FDB-9153E52E6986}" dt="2026-09-22T11:28:23.294" v="1522" actId="1076"/>
          <ac:spMkLst>
            <pc:docMk/>
            <pc:sldMk cId="0" sldId="259"/>
            <ac:spMk id="55" creationId="{4A8DB73E-032D-B482-886D-B64788A4DEC9}"/>
          </ac:spMkLst>
        </pc:spChg>
        <pc:spChg chg="add mod">
          <ac:chgData name="Paulo Sato" userId="8b5cd5a1ab362708" providerId="LiveId" clId="{01AD31F9-EEE6-45DA-9FDB-9153E52E6986}" dt="2026-09-22T11:28:23.294" v="1522" actId="1076"/>
          <ac:spMkLst>
            <pc:docMk/>
            <pc:sldMk cId="0" sldId="259"/>
            <ac:spMk id="57" creationId="{664E2C6A-D13D-13E6-ED57-5D99202DF95B}"/>
          </ac:spMkLst>
        </pc:spChg>
        <pc:spChg chg="add mod">
          <ac:chgData name="Paulo Sato" userId="8b5cd5a1ab362708" providerId="LiveId" clId="{01AD31F9-EEE6-45DA-9FDB-9153E52E6986}" dt="2026-09-22T11:26:30.940" v="1478" actId="1076"/>
          <ac:spMkLst>
            <pc:docMk/>
            <pc:sldMk cId="0" sldId="259"/>
            <ac:spMk id="59" creationId="{361D010B-BA78-E7D6-E299-64C67EEEFFF4}"/>
          </ac:spMkLst>
        </pc:spChg>
        <pc:spChg chg="add del mod">
          <ac:chgData name="Paulo Sato" userId="8b5cd5a1ab362708" providerId="LiveId" clId="{01AD31F9-EEE6-45DA-9FDB-9153E52E6986}" dt="2026-09-22T11:29:30.563" v="1533"/>
          <ac:spMkLst>
            <pc:docMk/>
            <pc:sldMk cId="0" sldId="259"/>
            <ac:spMk id="60" creationId="{4FB0A773-FB1D-2DE5-09BF-6C6623097B7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22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123809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50" b="1" dirty="0">
                <a:solidFill>
                  <a:srgbClr val="08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Transformação da Plataforma Muroa em 180 dias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02920" y="356616"/>
            <a:ext cx="1192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8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Plano de liderança para gerar capacidade, resiliência, modernização e autonomia sustentável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1371600" y="585216"/>
            <a:ext cx="101864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25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Quatro ondas de execução conectadas, com foco em pessoas, operação, negócio e evolução da plataforma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28016" y="896112"/>
            <a:ext cx="1325880" cy="530352"/>
          </a:xfrm>
          <a:prstGeom prst="roundRect">
            <a:avLst/>
          </a:prstGeom>
          <a:solidFill>
            <a:srgbClr val="EEF3F8"/>
          </a:solidFill>
          <a:ln w="8255">
            <a:solidFill>
              <a:srgbClr val="E3EA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FRENTES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TRABALHO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508760" y="896112"/>
            <a:ext cx="2423160" cy="530352"/>
          </a:xfrm>
          <a:prstGeom prst="roundRect">
            <a:avLst/>
          </a:prstGeom>
          <a:solidFill>
            <a:srgbClr val="FFF1E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 </a:t>
            </a:r>
            <a:r>
              <a:rPr lang="en-US" sz="860" b="1" dirty="0">
                <a:solidFill>
                  <a:srgbClr val="F15A24"/>
                </a:solidFill>
              </a:rPr>
              <a:t>0–30 dias
</a:t>
            </a:r>
            <a:r>
              <a:rPr lang="en-US" sz="620" b="1" dirty="0">
                <a:solidFill>
                  <a:srgbClr val="081D3B"/>
                </a:solidFill>
              </a:rPr>
              <a:t>Diagnosticar e pactuar</a:t>
            </a:r>
            <a:r>
              <a:rPr lang="en-US" sz="15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   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86784" y="896112"/>
            <a:ext cx="2423160" cy="530352"/>
          </a:xfrm>
          <a:prstGeom prst="roundRect">
            <a:avLst/>
          </a:prstGeom>
          <a:solidFill>
            <a:srgbClr val="EAF4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</a:t>
            </a:r>
            <a:r>
              <a:rPr lang="en-US" sz="860" b="1" dirty="0">
                <a:solidFill>
                  <a:srgbClr val="0B63B6"/>
                </a:solidFill>
              </a:rPr>
              <a:t>31–60 dias
</a:t>
            </a:r>
            <a:r>
              <a:rPr lang="en-US" sz="620" b="1" dirty="0">
                <a:solidFill>
                  <a:srgbClr val="081D3B"/>
                </a:solidFill>
              </a:rPr>
              <a:t>Organizar e estabilizar</a:t>
            </a: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   ⚙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64808" y="896112"/>
            <a:ext cx="2423160" cy="530352"/>
          </a:xfrm>
          <a:prstGeom prst="roundRect">
            <a:avLst/>
          </a:prstGeom>
          <a:solidFill>
            <a:srgbClr val="EAF8F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 </a:t>
            </a:r>
            <a:r>
              <a:rPr lang="en-US" sz="860" b="1" dirty="0">
                <a:solidFill>
                  <a:srgbClr val="0A8F4A"/>
                </a:solidFill>
              </a:rPr>
              <a:t>61–90 dias
</a:t>
            </a:r>
            <a:r>
              <a:rPr lang="en-US" sz="620" b="1" dirty="0">
                <a:solidFill>
                  <a:srgbClr val="081D3B"/>
                </a:solidFill>
              </a:rPr>
              <a:t>Ganhar tração e evidenciar valor</a:t>
            </a:r>
            <a:r>
              <a:rPr lang="en-US" sz="1500" b="1" dirty="0">
                <a:solidFill>
                  <a:srgbClr val="0A8F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   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42832" y="896112"/>
            <a:ext cx="2423160" cy="530352"/>
          </a:xfrm>
          <a:prstGeom prst="roundRect">
            <a:avLst/>
          </a:prstGeom>
          <a:solidFill>
            <a:srgbClr val="FFF1E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 </a:t>
            </a:r>
            <a:r>
              <a:rPr lang="en-US" sz="860" b="1" dirty="0">
                <a:solidFill>
                  <a:srgbClr val="F15A24"/>
                </a:solidFill>
              </a:rPr>
              <a:t>91–180 dias
</a:t>
            </a:r>
            <a:r>
              <a:rPr lang="en-US" sz="620" b="1" dirty="0">
                <a:solidFill>
                  <a:srgbClr val="081D3B"/>
                </a:solidFill>
              </a:rPr>
              <a:t>Escalar, consolidar e delegar</a:t>
            </a:r>
            <a:r>
              <a:rPr lang="en-US" sz="15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   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20856" y="896112"/>
            <a:ext cx="1380744" cy="530352"/>
          </a:xfrm>
          <a:prstGeom prst="roundRect">
            <a:avLst/>
          </a:prstGeom>
          <a:solidFill>
            <a:srgbClr val="EEF3F8"/>
          </a:solidFill>
          <a:ln w="8255">
            <a:solidFill>
              <a:srgbClr val="E3EA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ESPERADOS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128016" y="1490472"/>
            <a:ext cx="1325880" cy="722376"/>
          </a:xfrm>
          <a:prstGeom prst="roundRect">
            <a:avLst/>
          </a:prstGeom>
          <a:solidFill>
            <a:srgbClr val="FFF6F0"/>
          </a:solidFill>
          <a:ln w="7620">
            <a:solidFill>
              <a:srgbClr val="D6E0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  </a:t>
            </a: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Pessoas,</a:t>
            </a:r>
            <a:endParaRPr lang="en-US" sz="1600" dirty="0"/>
          </a:p>
          <a:p>
            <a:pPr marL="0" indent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</a:t>
            </a:r>
            <a:endParaRPr lang="en-US" sz="1600" dirty="0"/>
          </a:p>
          <a:p>
            <a:pPr marL="0" indent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IA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1490472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Mapear papéis, skills e pontos críticos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Diagnóstico de capacidade e sobrecarga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Plano inicial de IA com baseline do fluxo</a:t>
            </a:r>
            <a:endParaRPr lang="en-US" sz="535" dirty="0"/>
          </a:p>
        </p:txBody>
      </p:sp>
      <p:sp>
        <p:nvSpPr>
          <p:cNvPr id="13" name="Shape 11"/>
          <p:cNvSpPr/>
          <p:nvPr/>
        </p:nvSpPr>
        <p:spPr>
          <a:xfrm>
            <a:off x="1517904" y="1527048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986784" y="1490472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Rebalancear</a:t>
            </a: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Build x Run x Modernização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Definir owners e backups por frente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Piloto de IA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</a:t>
            </a: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real, com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</a:t>
            </a:r>
            <a:endParaRPr lang="en-US" sz="535" dirty="0"/>
          </a:p>
        </p:txBody>
      </p:sp>
      <p:sp>
        <p:nvSpPr>
          <p:cNvPr id="15" name="Shape 13"/>
          <p:cNvSpPr/>
          <p:nvPr/>
        </p:nvSpPr>
        <p:spPr>
          <a:xfrm>
            <a:off x="3995928" y="1527048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64808" y="1490472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Upskilling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</a:t>
            </a: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IA,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Muroa</a:t>
            </a: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Aws e Dados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Mentoria e comunidades de prática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Métricas de autonomia e engajamento</a:t>
            </a:r>
            <a:endParaRPr lang="en-US" sz="535" dirty="0"/>
          </a:p>
        </p:txBody>
      </p:sp>
      <p:sp>
        <p:nvSpPr>
          <p:cNvPr id="17" name="Shape 15"/>
          <p:cNvSpPr/>
          <p:nvPr/>
        </p:nvSpPr>
        <p:spPr>
          <a:xfrm>
            <a:off x="6473952" y="1527048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942832" y="1490472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 mais autônomo e capacitado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Sucessores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</a:t>
            </a: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frentes-chave</a:t>
            </a:r>
            <a:endParaRPr lang="en-US" sz="535" dirty="0"/>
          </a:p>
          <a:p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pt-BR" sz="535" dirty="0">
                <a:solidFill>
                  <a:srgbClr val="10294B"/>
                </a:solidFill>
                <a:latin typeface="Aptos" pitchFamily="34" charset="0"/>
              </a:rPr>
              <a:t>IA integrada à jornada ponta a ponta</a:t>
            </a:r>
            <a:endParaRPr lang="en-US" sz="535" dirty="0">
              <a:solidFill>
                <a:srgbClr val="10294B"/>
              </a:solidFill>
              <a:latin typeface="Aptos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951976" y="1527048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1420856" y="1490472"/>
            <a:ext cx="1380744" cy="722376"/>
          </a:xfrm>
          <a:prstGeom prst="roundRect">
            <a:avLst/>
          </a:prstGeom>
          <a:solidFill>
            <a:srgbClr val="FFF6F0"/>
          </a:solidFill>
          <a:ln w="10160">
            <a:solidFill>
              <a:srgbClr val="F15A24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
</a:t>
            </a: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autônomo,</a:t>
            </a:r>
            <a:endParaRPr lang="en-US" sz="1400" dirty="0"/>
          </a:p>
          <a:p>
            <a:pPr marL="0" indent="0" algn="ctr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capacitado e</a:t>
            </a:r>
            <a:endParaRPr lang="en-US" sz="1400" dirty="0"/>
          </a:p>
          <a:p>
            <a:pPr marL="0" indent="0" algn="ctr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orientado a valor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" y="2263140"/>
            <a:ext cx="1325880" cy="722376"/>
          </a:xfrm>
          <a:prstGeom prst="roundRect">
            <a:avLst/>
          </a:prstGeom>
          <a:solidFill>
            <a:srgbClr val="F1F7FF"/>
          </a:solidFill>
          <a:ln w="7620">
            <a:solidFill>
              <a:srgbClr val="D6E0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🛡  </a:t>
            </a: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Resiliência e</a:t>
            </a:r>
            <a:endParaRPr lang="en-US" sz="1600" dirty="0"/>
          </a:p>
          <a:p>
            <a:pPr marL="0" indent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observabilidade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2263140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Inventário de serviços, jornadas e dependências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Definir SLOs/SLAs críticos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Quick wins de logging, métricas e playbooks</a:t>
            </a:r>
            <a:endParaRPr lang="en-US" sz="535" dirty="0"/>
          </a:p>
        </p:txBody>
      </p:sp>
      <p:sp>
        <p:nvSpPr>
          <p:cNvPr id="23" name="Shape 21"/>
          <p:cNvSpPr/>
          <p:nvPr/>
        </p:nvSpPr>
        <p:spPr>
          <a:xfrm>
            <a:off x="1517904" y="2299716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986784" y="2263140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Dashboards e alertas prioritários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Logs, métricas e traces mínimos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Rotina de incidentes e problemas</a:t>
            </a:r>
            <a:endParaRPr lang="en-US" sz="535" dirty="0"/>
          </a:p>
        </p:txBody>
      </p:sp>
      <p:sp>
        <p:nvSpPr>
          <p:cNvPr id="25" name="Shape 23"/>
          <p:cNvSpPr/>
          <p:nvPr/>
        </p:nvSpPr>
        <p:spPr>
          <a:xfrm>
            <a:off x="3995928" y="2299716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464808" y="2263140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r>
              <a:rPr lang="en-US" sz="535" dirty="0">
                <a:solidFill>
                  <a:srgbClr val="10294B"/>
                </a:solidFill>
                <a:latin typeface="Aptos" pitchFamily="34" charset="0"/>
              </a:rPr>
              <a:t>• </a:t>
            </a:r>
            <a:r>
              <a:rPr lang="pt-BR" sz="535" dirty="0" err="1">
                <a:solidFill>
                  <a:srgbClr val="10294B"/>
                </a:solidFill>
                <a:latin typeface="Aptos" pitchFamily="34" charset="0"/>
              </a:rPr>
              <a:t>Observabilidade</a:t>
            </a:r>
            <a:r>
              <a:rPr lang="pt-BR" sz="535" dirty="0">
                <a:solidFill>
                  <a:srgbClr val="10294B"/>
                </a:solidFill>
                <a:latin typeface="Aptos" pitchFamily="34" charset="0"/>
              </a:rPr>
              <a:t> ponta a ponta das jornadas críticas</a:t>
            </a:r>
          </a:p>
          <a:p>
            <a:r>
              <a:rPr lang="en-US" sz="535" dirty="0">
                <a:solidFill>
                  <a:srgbClr val="10294B"/>
                </a:solidFill>
                <a:latin typeface="Aptos" pitchFamily="34" charset="0"/>
              </a:rPr>
              <a:t>• Redução de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</a:rPr>
              <a:t>incidentes</a:t>
            </a:r>
            <a:r>
              <a:rPr lang="en-US" sz="535" dirty="0">
                <a:solidFill>
                  <a:srgbClr val="10294B"/>
                </a:solidFill>
                <a:latin typeface="Aptos" pitchFamily="34" charset="0"/>
              </a:rPr>
              <a:t>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</a:rPr>
              <a:t>recorrentes</a:t>
            </a:r>
            <a:endParaRPr lang="en-US" sz="535" dirty="0">
              <a:solidFill>
                <a:srgbClr val="10294B"/>
              </a:solidFill>
              <a:latin typeface="Aptos" pitchFamily="34" charset="0"/>
            </a:endParaRPr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</a:rPr>
              <a:t>• Planos de capacidade e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</a:rPr>
              <a:t>confiabilidade</a:t>
            </a:r>
            <a:endParaRPr lang="en-US" sz="535" dirty="0">
              <a:solidFill>
                <a:srgbClr val="10294B"/>
              </a:solidFill>
              <a:latin typeface="Aptos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73952" y="2299716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942832" y="2263140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Operação previsível e mais estável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Post-mortem blameless e melhoria contínua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Resiliência como rotina do time</a:t>
            </a:r>
            <a:endParaRPr lang="en-US" sz="535" dirty="0"/>
          </a:p>
        </p:txBody>
      </p:sp>
      <p:sp>
        <p:nvSpPr>
          <p:cNvPr id="29" name="Shape 27"/>
          <p:cNvSpPr/>
          <p:nvPr/>
        </p:nvSpPr>
        <p:spPr>
          <a:xfrm>
            <a:off x="8951976" y="2299716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1420856" y="2263140"/>
            <a:ext cx="1380744" cy="722376"/>
          </a:xfrm>
          <a:prstGeom prst="roundRect">
            <a:avLst/>
          </a:prstGeom>
          <a:solidFill>
            <a:srgbClr val="F1F7FF"/>
          </a:solidFill>
          <a:ln w="10160">
            <a:solidFill>
              <a:srgbClr val="0B63B6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▰
</a:t>
            </a: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Operação resiliente</a:t>
            </a:r>
            <a:endParaRPr lang="en-US" sz="1400" dirty="0"/>
          </a:p>
          <a:p>
            <a:pPr marL="0" indent="0" algn="ctr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observável</a:t>
            </a:r>
            <a:endParaRPr lang="en-US" sz="1400" dirty="0"/>
          </a:p>
          <a:p>
            <a:pPr marL="0" indent="0" algn="ctr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ponta a ponta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" y="3035808"/>
            <a:ext cx="1325880" cy="722376"/>
          </a:xfrm>
          <a:prstGeom prst="roundRect">
            <a:avLst/>
          </a:prstGeom>
          <a:solidFill>
            <a:srgbClr val="F1FBF5"/>
          </a:solidFill>
          <a:ln w="7620">
            <a:solidFill>
              <a:srgbClr val="D6E0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A8F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  </a:t>
            </a: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Modernização,</a:t>
            </a:r>
            <a:endParaRPr lang="en-US" sz="1600" dirty="0"/>
          </a:p>
          <a:p>
            <a:pPr marL="0" indent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legado e FinOps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08760" y="3035808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Mapa do legado e custos AWS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Priorização por valor, risco e esforço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Roadmap macro até 2028</a:t>
            </a:r>
            <a:endParaRPr lang="en-US" sz="535" dirty="0"/>
          </a:p>
        </p:txBody>
      </p:sp>
      <p:sp>
        <p:nvSpPr>
          <p:cNvPr id="33" name="Shape 31"/>
          <p:cNvSpPr/>
          <p:nvPr/>
        </p:nvSpPr>
        <p:spPr>
          <a:xfrm>
            <a:off x="1517904" y="3072384"/>
            <a:ext cx="22860" cy="649224"/>
          </a:xfrm>
          <a:prstGeom prst="rect">
            <a:avLst/>
          </a:prstGeom>
          <a:solidFill>
            <a:srgbClr val="0A8F4A"/>
          </a:solidFill>
          <a:ln w="12700">
            <a:solidFill>
              <a:srgbClr val="0A8F4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3986784" y="3035808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Right sizing e cortes de desperdício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Ondas iniciais de modernização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Política inicial de FinOps</a:t>
            </a:r>
            <a:endParaRPr lang="en-US" sz="535" dirty="0"/>
          </a:p>
        </p:txBody>
      </p:sp>
      <p:sp>
        <p:nvSpPr>
          <p:cNvPr id="35" name="Shape 33"/>
          <p:cNvSpPr/>
          <p:nvPr/>
        </p:nvSpPr>
        <p:spPr>
          <a:xfrm>
            <a:off x="3995928" y="3072384"/>
            <a:ext cx="22860" cy="649224"/>
          </a:xfrm>
          <a:prstGeom prst="rect">
            <a:avLst/>
          </a:prstGeom>
          <a:solidFill>
            <a:srgbClr val="0A8F4A"/>
          </a:solidFill>
          <a:ln w="12700">
            <a:solidFill>
              <a:srgbClr val="0A8F4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464808" y="3035808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Entregas iniciais de modernização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Ganhos mensuráveis de custo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Plano de retirada do legado validado</a:t>
            </a:r>
            <a:endParaRPr lang="en-US" sz="535" dirty="0"/>
          </a:p>
        </p:txBody>
      </p:sp>
      <p:sp>
        <p:nvSpPr>
          <p:cNvPr id="37" name="Shape 35"/>
          <p:cNvSpPr/>
          <p:nvPr/>
        </p:nvSpPr>
        <p:spPr>
          <a:xfrm>
            <a:off x="6473952" y="3072384"/>
            <a:ext cx="22860" cy="649224"/>
          </a:xfrm>
          <a:prstGeom prst="rect">
            <a:avLst/>
          </a:prstGeom>
          <a:solidFill>
            <a:srgbClr val="0A8F4A"/>
          </a:solidFill>
          <a:ln w="12700">
            <a:solidFill>
              <a:srgbClr val="0A8F4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942832" y="3035808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Roadmap 2028 protegido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FinOps com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monitoramento</a:t>
            </a: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constante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Custos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</a:t>
            </a: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previsíveis</a:t>
            </a: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sustentáveis</a:t>
            </a:r>
            <a:endParaRPr lang="en-US" sz="535" dirty="0"/>
          </a:p>
        </p:txBody>
      </p:sp>
      <p:sp>
        <p:nvSpPr>
          <p:cNvPr id="39" name="Shape 37"/>
          <p:cNvSpPr/>
          <p:nvPr/>
        </p:nvSpPr>
        <p:spPr>
          <a:xfrm>
            <a:off x="8951976" y="3072384"/>
            <a:ext cx="22860" cy="649224"/>
          </a:xfrm>
          <a:prstGeom prst="rect">
            <a:avLst/>
          </a:prstGeom>
          <a:solidFill>
            <a:srgbClr val="0A8F4A"/>
          </a:solidFill>
          <a:ln w="12700">
            <a:solidFill>
              <a:srgbClr val="0A8F4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11420856" y="3035808"/>
            <a:ext cx="1380744" cy="722376"/>
          </a:xfrm>
          <a:prstGeom prst="roundRect">
            <a:avLst/>
          </a:prstGeom>
          <a:solidFill>
            <a:srgbClr val="F1FBF5"/>
          </a:solidFill>
          <a:ln w="10160">
            <a:solidFill>
              <a:srgbClr val="0A8F4A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8F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
</a:t>
            </a: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mais</a:t>
            </a:r>
            <a:endParaRPr lang="en-US" sz="1400" dirty="0"/>
          </a:p>
          <a:p>
            <a:pPr marL="0" indent="0" algn="ctr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eficiente e</a:t>
            </a:r>
            <a:endParaRPr lang="en-US" sz="1400" dirty="0"/>
          </a:p>
          <a:p>
            <a:pPr marL="0" indent="0" algn="ctr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custo-efetiva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8016" y="3808476"/>
            <a:ext cx="1325880" cy="722376"/>
          </a:xfrm>
          <a:prstGeom prst="roundRect">
            <a:avLst/>
          </a:prstGeom>
          <a:solidFill>
            <a:srgbClr val="FFF6F0"/>
          </a:solidFill>
          <a:ln w="7620">
            <a:solidFill>
              <a:srgbClr val="D6E0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  </a:t>
            </a:r>
            <a:r>
              <a:rPr lang="en-US" sz="740" b="1" dirty="0" err="1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Áreas</a:t>
            </a:r>
            <a:endParaRPr lang="en-US" sz="1600" dirty="0"/>
          </a:p>
          <a:p>
            <a:pPr marL="0" indent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consumidoras e</a:t>
            </a:r>
            <a:endParaRPr lang="en-US" sz="1600" dirty="0"/>
          </a:p>
          <a:p>
            <a:pPr marL="0" indent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ecossistema Muroa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508760" y="3808476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Mapear consumidores, dependências e dores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Entender compromissos e conflitos de prioridade</a:t>
            </a:r>
            <a:endParaRPr lang="en-US" sz="535" dirty="0"/>
          </a:p>
          <a:p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pt-BR" sz="535" dirty="0">
                <a:solidFill>
                  <a:srgbClr val="10294B"/>
                </a:solidFill>
                <a:latin typeface="Aptos" pitchFamily="34" charset="0"/>
              </a:rPr>
              <a:t>Engajar o fornecedor como parceiro da transformação.</a:t>
            </a:r>
            <a:endParaRPr lang="en-US" sz="535" dirty="0">
              <a:solidFill>
                <a:srgbClr val="10294B"/>
              </a:solidFill>
              <a:latin typeface="Aptos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517904" y="3845052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3986784" y="3808476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Roadmap compartilhado com consumidores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Critérios claros de escalonamento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Negociação transparente de trade-offs</a:t>
            </a:r>
            <a:endParaRPr lang="en-US" sz="535" dirty="0"/>
          </a:p>
        </p:txBody>
      </p:sp>
      <p:sp>
        <p:nvSpPr>
          <p:cNvPr id="45" name="Shape 43"/>
          <p:cNvSpPr/>
          <p:nvPr/>
        </p:nvSpPr>
        <p:spPr>
          <a:xfrm>
            <a:off x="3995928" y="3845052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464808" y="3808476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Compromissos mais previsíveis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Redução de conflitos e retrabalho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Decisões baseadas em dados e contexto</a:t>
            </a:r>
            <a:endParaRPr lang="en-US" sz="535" dirty="0"/>
          </a:p>
        </p:txBody>
      </p:sp>
      <p:sp>
        <p:nvSpPr>
          <p:cNvPr id="47" name="Shape 45"/>
          <p:cNvSpPr/>
          <p:nvPr/>
        </p:nvSpPr>
        <p:spPr>
          <a:xfrm>
            <a:off x="6473952" y="3845052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8942832" y="3808476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Ecossistema mais alinhado ao valor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Relação mais produtiva com fornecedor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Governança estável com áreas parceiras</a:t>
            </a:r>
            <a:endParaRPr lang="en-US" sz="535" dirty="0"/>
          </a:p>
        </p:txBody>
      </p:sp>
      <p:sp>
        <p:nvSpPr>
          <p:cNvPr id="49" name="Shape 47"/>
          <p:cNvSpPr/>
          <p:nvPr/>
        </p:nvSpPr>
        <p:spPr>
          <a:xfrm>
            <a:off x="8951976" y="3845052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11420856" y="3808476"/>
            <a:ext cx="1380744" cy="722376"/>
          </a:xfrm>
          <a:prstGeom prst="roundRect">
            <a:avLst/>
          </a:prstGeom>
          <a:solidFill>
            <a:srgbClr val="FFF6F0"/>
          </a:solidFill>
          <a:ln w="10160">
            <a:solidFill>
              <a:srgbClr val="F15A24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🤝
</a:t>
            </a: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Ecossistema</a:t>
            </a:r>
            <a:endParaRPr lang="en-US" sz="1400" dirty="0"/>
          </a:p>
          <a:p>
            <a:pPr marL="0" indent="0" algn="ctr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alinhado e</a:t>
            </a:r>
            <a:endParaRPr lang="en-US" sz="1400" dirty="0"/>
          </a:p>
          <a:p>
            <a:pPr marL="0" indent="0" algn="ctr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reativo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28016" y="4581144"/>
            <a:ext cx="1325880" cy="722376"/>
          </a:xfrm>
          <a:prstGeom prst="roundRect">
            <a:avLst/>
          </a:prstGeom>
          <a:solidFill>
            <a:srgbClr val="F1F7FF"/>
          </a:solidFill>
          <a:ln w="7620">
            <a:solidFill>
              <a:srgbClr val="D6E0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  </a:t>
            </a:r>
            <a:r>
              <a:rPr lang="en-US" sz="740" b="1" dirty="0" err="1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Estratégia</a:t>
            </a: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</a:t>
            </a:r>
            <a:endParaRPr lang="en-US" sz="1600" dirty="0"/>
          </a:p>
          <a:p>
            <a:pPr marL="0" indent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liderança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508760" y="4581144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Traduzir KRs em plano de 180 dias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Definir metas, indicadores e renúncias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Estabelecer governança e cadência</a:t>
            </a:r>
            <a:endParaRPr lang="en-US" sz="535" dirty="0"/>
          </a:p>
        </p:txBody>
      </p:sp>
      <p:sp>
        <p:nvSpPr>
          <p:cNvPr id="53" name="Shape 51"/>
          <p:cNvSpPr/>
          <p:nvPr/>
        </p:nvSpPr>
        <p:spPr>
          <a:xfrm>
            <a:off x="1517904" y="4617720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3986784" y="4581144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Acompanhar execução por evidências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Remover impedimentos sistêmicos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Comunicação executiva simples e frequente</a:t>
            </a:r>
            <a:endParaRPr lang="en-US" sz="535" dirty="0"/>
          </a:p>
        </p:txBody>
      </p:sp>
      <p:sp>
        <p:nvSpPr>
          <p:cNvPr id="55" name="Shape 53"/>
          <p:cNvSpPr/>
          <p:nvPr/>
        </p:nvSpPr>
        <p:spPr>
          <a:xfrm>
            <a:off x="3995928" y="4617720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6464808" y="4581144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Delegação progressiva com contexto e limites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Fóruns de decisão do próprio time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Aprendizado com erros e acertos</a:t>
            </a:r>
            <a:endParaRPr lang="en-US" sz="535" dirty="0"/>
          </a:p>
        </p:txBody>
      </p:sp>
      <p:sp>
        <p:nvSpPr>
          <p:cNvPr id="57" name="Shape 55"/>
          <p:cNvSpPr/>
          <p:nvPr/>
        </p:nvSpPr>
        <p:spPr>
          <a:xfrm>
            <a:off x="6473952" y="4617720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8942832" y="4581144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Menos centralização na coordenação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 decide mais sem depender da liderança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Liderança distribuída e escalável</a:t>
            </a:r>
            <a:endParaRPr lang="en-US" sz="535" dirty="0"/>
          </a:p>
        </p:txBody>
      </p:sp>
      <p:sp>
        <p:nvSpPr>
          <p:cNvPr id="59" name="Shape 57"/>
          <p:cNvSpPr/>
          <p:nvPr/>
        </p:nvSpPr>
        <p:spPr>
          <a:xfrm>
            <a:off x="8951976" y="4617720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11420856" y="4581144"/>
            <a:ext cx="1380744" cy="722376"/>
          </a:xfrm>
          <a:prstGeom prst="roundRect">
            <a:avLst/>
          </a:prstGeom>
          <a:solidFill>
            <a:srgbClr val="F1F7FF"/>
          </a:solidFill>
          <a:ln w="10160">
            <a:solidFill>
              <a:srgbClr val="0B63B6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▰
</a:t>
            </a: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Liderança leve,</a:t>
            </a:r>
            <a:endParaRPr lang="en-US" sz="1400" dirty="0"/>
          </a:p>
          <a:p>
            <a:pPr marL="0" indent="0" algn="ctr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governança clara e</a:t>
            </a:r>
            <a:endParaRPr lang="en-US" sz="1400" dirty="0"/>
          </a:p>
          <a:p>
            <a:pPr marL="0" indent="0" algn="ctr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contínuos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219456" y="5934456"/>
            <a:ext cx="105156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ECOSSISTEMA</a:t>
            </a:r>
            <a:endParaRPr lang="en-US" sz="680" dirty="0"/>
          </a:p>
          <a:p>
            <a:pPr marL="0" indent="0" algn="l">
              <a:buNone/>
            </a:pPr>
            <a:r>
              <a:rPr lang="en-US" sz="68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PLATAFORMA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1545336" y="5669280"/>
            <a:ext cx="1965960" cy="530352"/>
          </a:xfrm>
          <a:prstGeom prst="roundRect">
            <a:avLst/>
          </a:prstGeom>
          <a:solidFill>
            <a:srgbClr val="F1F7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▰  Front Office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Trading, Sales, Risco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511296" y="5934456"/>
            <a:ext cx="566928" cy="0"/>
          </a:xfrm>
          <a:prstGeom prst="line">
            <a:avLst/>
          </a:prstGeom>
          <a:noFill/>
          <a:ln w="12700">
            <a:solidFill>
              <a:srgbClr val="0B63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4059936" y="5669280"/>
            <a:ext cx="4434840" cy="530352"/>
          </a:xfrm>
          <a:prstGeom prst="roundRect">
            <a:avLst/>
          </a:prstGeom>
          <a:solidFill>
            <a:srgbClr val="081D3B"/>
          </a:solidFill>
          <a:ln w="8255">
            <a:solidFill>
              <a:srgbClr val="081D3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MUROA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 Operação    ▣ </a:t>
            </a:r>
            <a:r>
              <a:rPr lang="en-US" sz="92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Carteira</a:t>
            </a: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🛡 </a:t>
            </a:r>
            <a:r>
              <a:rPr lang="en-US" sz="92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Contabil</a:t>
            </a: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▤ Processos</a:t>
            </a:r>
            <a:endParaRPr lang="en-US" sz="920" dirty="0"/>
          </a:p>
        </p:txBody>
      </p:sp>
      <p:sp>
        <p:nvSpPr>
          <p:cNvPr id="65" name="Shape 63"/>
          <p:cNvSpPr/>
          <p:nvPr/>
        </p:nvSpPr>
        <p:spPr>
          <a:xfrm>
            <a:off x="8494776" y="5934456"/>
            <a:ext cx="292608" cy="0"/>
          </a:xfrm>
          <a:prstGeom prst="line">
            <a:avLst/>
          </a:prstGeom>
          <a:noFill/>
          <a:ln w="12700">
            <a:solidFill>
              <a:srgbClr val="0B63B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8814816" y="5669280"/>
            <a:ext cx="1810512" cy="530352"/>
          </a:xfrm>
          <a:prstGeom prst="roundRect">
            <a:avLst/>
          </a:prstGeom>
          <a:solidFill>
            <a:srgbClr val="F1F7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▤  Back Office / Contábil</a:t>
            </a:r>
            <a:endParaRPr lang="en-US" sz="660" dirty="0"/>
          </a:p>
          <a:p>
            <a:pPr marL="0" indent="0" algn="ctr">
              <a:buNone/>
            </a:pPr>
            <a:r>
              <a:rPr lang="en-US" sz="66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Confirmações, Liquidação, Contábil</a:t>
            </a:r>
            <a:endParaRPr lang="en-US" sz="660" dirty="0"/>
          </a:p>
        </p:txBody>
      </p:sp>
      <p:sp>
        <p:nvSpPr>
          <p:cNvPr id="67" name="Shape 65"/>
          <p:cNvSpPr/>
          <p:nvPr/>
        </p:nvSpPr>
        <p:spPr>
          <a:xfrm>
            <a:off x="10625328" y="5934456"/>
            <a:ext cx="310896" cy="0"/>
          </a:xfrm>
          <a:prstGeom prst="line">
            <a:avLst/>
          </a:prstGeom>
          <a:noFill/>
          <a:ln w="12700">
            <a:solidFill>
              <a:srgbClr val="0B63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10963656" y="5669280"/>
            <a:ext cx="1865376" cy="530352"/>
          </a:xfrm>
          <a:prstGeom prst="roundRect">
            <a:avLst/>
          </a:prstGeom>
          <a:solidFill>
            <a:srgbClr val="F1F7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👥  Sistemas consumidores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BI, Risco, Regulatório</a:t>
            </a:r>
            <a:endParaRPr lang="en-US" sz="680" dirty="0"/>
          </a:p>
        </p:txBody>
      </p:sp>
      <p:sp>
        <p:nvSpPr>
          <p:cNvPr id="69" name="Text 67"/>
          <p:cNvSpPr/>
          <p:nvPr/>
        </p:nvSpPr>
        <p:spPr>
          <a:xfrm>
            <a:off x="1911096" y="6373368"/>
            <a:ext cx="2057400" cy="4023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☁  AWS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Compute, Storage, Networking</a:t>
            </a:r>
            <a:endParaRPr lang="en-US" sz="630" dirty="0"/>
          </a:p>
        </p:txBody>
      </p:sp>
      <p:sp>
        <p:nvSpPr>
          <p:cNvPr id="70" name="Shape 68"/>
          <p:cNvSpPr/>
          <p:nvPr/>
        </p:nvSpPr>
        <p:spPr>
          <a:xfrm>
            <a:off x="2939796" y="6199632"/>
            <a:ext cx="0" cy="173736"/>
          </a:xfrm>
          <a:prstGeom prst="line">
            <a:avLst/>
          </a:prstGeom>
          <a:noFill/>
          <a:ln w="8255">
            <a:solidFill>
              <a:srgbClr val="0B63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1" name="Text 69"/>
          <p:cNvSpPr/>
          <p:nvPr/>
        </p:nvSpPr>
        <p:spPr>
          <a:xfrm>
            <a:off x="4215384" y="6373368"/>
            <a:ext cx="2057400" cy="4023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⌕  Observabilidade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Logs, Métricas, Traces</a:t>
            </a:r>
            <a:endParaRPr lang="en-US" sz="630" dirty="0"/>
          </a:p>
        </p:txBody>
      </p:sp>
      <p:sp>
        <p:nvSpPr>
          <p:cNvPr id="72" name="Shape 70"/>
          <p:cNvSpPr/>
          <p:nvPr/>
        </p:nvSpPr>
        <p:spPr>
          <a:xfrm>
            <a:off x="5244084" y="6199632"/>
            <a:ext cx="0" cy="173736"/>
          </a:xfrm>
          <a:prstGeom prst="line">
            <a:avLst/>
          </a:prstGeom>
          <a:noFill/>
          <a:ln w="8255">
            <a:solidFill>
              <a:srgbClr val="0B63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3" name="Text 71"/>
          <p:cNvSpPr/>
          <p:nvPr/>
        </p:nvSpPr>
        <p:spPr>
          <a:xfrm>
            <a:off x="6519672" y="6373368"/>
            <a:ext cx="2057400" cy="4023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⌘  Mensageria e Dados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Streaming, Integrações, </a:t>
            </a:r>
            <a:r>
              <a:rPr lang="en-US" sz="630" b="1" dirty="0" err="1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DataMesh</a:t>
            </a:r>
            <a:endParaRPr lang="en-US" sz="630" dirty="0"/>
          </a:p>
        </p:txBody>
      </p:sp>
      <p:sp>
        <p:nvSpPr>
          <p:cNvPr id="74" name="Shape 72"/>
          <p:cNvSpPr/>
          <p:nvPr/>
        </p:nvSpPr>
        <p:spPr>
          <a:xfrm>
            <a:off x="7548372" y="6199632"/>
            <a:ext cx="0" cy="173736"/>
          </a:xfrm>
          <a:prstGeom prst="line">
            <a:avLst/>
          </a:prstGeom>
          <a:noFill/>
          <a:ln w="8255">
            <a:solidFill>
              <a:srgbClr val="0B63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5" name="Text 73"/>
          <p:cNvSpPr/>
          <p:nvPr/>
        </p:nvSpPr>
        <p:spPr>
          <a:xfrm>
            <a:off x="8823960" y="6373368"/>
            <a:ext cx="2057400" cy="4023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  Legados em retirada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Descontinuação planejada</a:t>
            </a:r>
            <a:endParaRPr lang="en-US" sz="630" dirty="0"/>
          </a:p>
        </p:txBody>
      </p:sp>
      <p:sp>
        <p:nvSpPr>
          <p:cNvPr id="76" name="Shape 74"/>
          <p:cNvSpPr/>
          <p:nvPr/>
        </p:nvSpPr>
        <p:spPr>
          <a:xfrm>
            <a:off x="9852660" y="6199632"/>
            <a:ext cx="0" cy="173736"/>
          </a:xfrm>
          <a:prstGeom prst="line">
            <a:avLst/>
          </a:prstGeom>
          <a:noFill/>
          <a:ln w="8255">
            <a:solidFill>
              <a:srgbClr val="0B63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7" name="Text 75"/>
          <p:cNvSpPr/>
          <p:nvPr/>
        </p:nvSpPr>
        <p:spPr>
          <a:xfrm>
            <a:off x="128016" y="7004304"/>
            <a:ext cx="960120" cy="585216"/>
          </a:xfrm>
          <a:prstGeom prst="roundRect">
            <a:avLst/>
          </a:prstGeom>
          <a:solidFill>
            <a:srgbClr val="EEF3F8"/>
          </a:solidFill>
          <a:ln w="8255">
            <a:solidFill>
              <a:srgbClr val="E3EA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MARCOS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PRINCIPAIS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1170432" y="7004304"/>
            <a:ext cx="3383280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E1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   </a:t>
            </a:r>
            <a:r>
              <a:rPr lang="en-US" sz="14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  </a:t>
            </a:r>
            <a:r>
              <a:rPr lang="en-US" sz="700" b="1" dirty="0">
                <a:solidFill>
                  <a:srgbClr val="F15A24"/>
                </a:solidFill>
              </a:rPr>
              <a:t>Baseline aprovado | Dia 30
</a:t>
            </a:r>
            <a:r>
              <a:rPr lang="en-US" sz="580" dirty="0">
                <a:solidFill>
                  <a:srgbClr val="42516D"/>
                </a:solidFill>
              </a:rPr>
              <a:t>Inventário, riscos, custos e plano priorizado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599432" y="7141464"/>
            <a:ext cx="1463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A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80" name="Text 78"/>
          <p:cNvSpPr/>
          <p:nvPr/>
        </p:nvSpPr>
        <p:spPr>
          <a:xfrm>
            <a:off x="4809744" y="7004304"/>
            <a:ext cx="3383280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E1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   </a:t>
            </a:r>
            <a:r>
              <a:rPr lang="en-US" sz="14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▰  </a:t>
            </a:r>
            <a:r>
              <a:rPr lang="en-US" sz="700" b="1" dirty="0">
                <a:solidFill>
                  <a:srgbClr val="0B63B6"/>
                </a:solidFill>
              </a:rPr>
              <a:t>Evidência de valor | Dia 90
</a:t>
            </a:r>
            <a:r>
              <a:rPr lang="en-US" sz="580" dirty="0">
                <a:solidFill>
                  <a:srgbClr val="42516D"/>
                </a:solidFill>
              </a:rPr>
              <a:t>Quick wins, evidência de valor e ganhos percebidos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8238744" y="7141464"/>
            <a:ext cx="1463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A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82" name="Text 80"/>
          <p:cNvSpPr/>
          <p:nvPr/>
        </p:nvSpPr>
        <p:spPr>
          <a:xfrm>
            <a:off x="8449056" y="7004304"/>
            <a:ext cx="3383280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E1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   </a:t>
            </a:r>
            <a:r>
              <a:rPr lang="en-US" sz="1400" b="1" dirty="0">
                <a:solidFill>
                  <a:srgbClr val="0A8F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  </a:t>
            </a:r>
            <a:r>
              <a:rPr lang="en-US" sz="700" b="1" dirty="0">
                <a:solidFill>
                  <a:srgbClr val="0A8F4A"/>
                </a:solidFill>
              </a:rPr>
              <a:t>Autonomia e roadmap protegido | Dia 180
</a:t>
            </a:r>
            <a:r>
              <a:rPr lang="en-US" sz="580" dirty="0">
                <a:solidFill>
                  <a:srgbClr val="42516D"/>
                </a:solidFill>
              </a:rPr>
              <a:t>Mais decisões no time e evolução sustentável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128016" y="7726680"/>
            <a:ext cx="960120" cy="621792"/>
          </a:xfrm>
          <a:prstGeom prst="roundRect">
            <a:avLst/>
          </a:prstGeom>
          <a:solidFill>
            <a:srgbClr val="EEF3F8"/>
          </a:solidFill>
          <a:ln w="8255">
            <a:solidFill>
              <a:srgbClr val="E3EA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ENTREGUE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1170432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🛡  </a:t>
            </a: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 risco</a:t>
            </a:r>
            <a:endParaRPr lang="en-US" sz="1500" dirty="0"/>
          </a:p>
          <a:p>
            <a:pPr marL="0" indent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operacional</a:t>
            </a:r>
            <a:endParaRPr lang="en-US" sz="1500" dirty="0"/>
          </a:p>
        </p:txBody>
      </p:sp>
      <p:sp>
        <p:nvSpPr>
          <p:cNvPr id="85" name="Text 83"/>
          <p:cNvSpPr/>
          <p:nvPr/>
        </p:nvSpPr>
        <p:spPr>
          <a:xfrm>
            <a:off x="3119628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  </a:t>
            </a: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Eficiência de custos</a:t>
            </a:r>
            <a:endParaRPr lang="en-US" sz="1500" dirty="0"/>
          </a:p>
          <a:p>
            <a:pPr marL="0" indent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FinOps</a:t>
            </a:r>
            <a:endParaRPr lang="en-US" sz="1500" dirty="0"/>
          </a:p>
        </p:txBody>
      </p:sp>
      <p:sp>
        <p:nvSpPr>
          <p:cNvPr id="86" name="Text 84"/>
          <p:cNvSpPr/>
          <p:nvPr/>
        </p:nvSpPr>
        <p:spPr>
          <a:xfrm>
            <a:off x="5068824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◷  </a:t>
            </a: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previsibilidade</a:t>
            </a:r>
            <a:endParaRPr lang="en-US" sz="1500" dirty="0"/>
          </a:p>
          <a:p>
            <a:pPr marL="0" indent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nas entregas</a:t>
            </a:r>
            <a:endParaRPr lang="en-US" sz="1500" dirty="0"/>
          </a:p>
        </p:txBody>
      </p:sp>
      <p:sp>
        <p:nvSpPr>
          <p:cNvPr id="87" name="Text 85"/>
          <p:cNvSpPr/>
          <p:nvPr/>
        </p:nvSpPr>
        <p:spPr>
          <a:xfrm>
            <a:off x="7018020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▰  </a:t>
            </a: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Decisões melhores</a:t>
            </a:r>
            <a:endParaRPr lang="en-US" sz="1500" dirty="0"/>
          </a:p>
          <a:p>
            <a:pPr marL="0" indent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dados e IA</a:t>
            </a:r>
            <a:endParaRPr lang="en-US" sz="1500" dirty="0"/>
          </a:p>
        </p:txBody>
      </p:sp>
      <p:sp>
        <p:nvSpPr>
          <p:cNvPr id="88" name="Text 86"/>
          <p:cNvSpPr/>
          <p:nvPr/>
        </p:nvSpPr>
        <p:spPr>
          <a:xfrm>
            <a:off x="8967216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  </a:t>
            </a: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mais autônomo</a:t>
            </a:r>
            <a:endParaRPr lang="en-US" sz="1500" dirty="0"/>
          </a:p>
          <a:p>
            <a:pPr marL="0" indent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engajado</a:t>
            </a:r>
            <a:endParaRPr lang="en-US" sz="1500" dirty="0"/>
          </a:p>
        </p:txBody>
      </p:sp>
      <p:sp>
        <p:nvSpPr>
          <p:cNvPr id="89" name="Text 87"/>
          <p:cNvSpPr/>
          <p:nvPr/>
        </p:nvSpPr>
        <p:spPr>
          <a:xfrm>
            <a:off x="10916412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A8F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  </a:t>
            </a: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Modernização</a:t>
            </a:r>
            <a:endParaRPr lang="en-US" sz="1500" dirty="0"/>
          </a:p>
          <a:p>
            <a:pPr marL="0" indent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sustentável da plataforma</a:t>
            </a:r>
            <a:endParaRPr lang="en-US" sz="1500" dirty="0"/>
          </a:p>
        </p:txBody>
      </p:sp>
      <p:sp>
        <p:nvSpPr>
          <p:cNvPr id="91" name="Shape 89"/>
          <p:cNvSpPr/>
          <p:nvPr/>
        </p:nvSpPr>
        <p:spPr>
          <a:xfrm>
            <a:off x="128016" y="5367528"/>
            <a:ext cx="12673584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90"/>
          <p:cNvSpPr/>
          <p:nvPr/>
        </p:nvSpPr>
        <p:spPr>
          <a:xfrm>
            <a:off x="128016" y="7653528"/>
            <a:ext cx="12673584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929616" cy="82296"/>
          </a:xfrm>
          <a:prstGeom prst="rect">
            <a:avLst/>
          </a:prstGeom>
          <a:solidFill>
            <a:srgbClr val="EA5D15"/>
          </a:solidFill>
          <a:ln>
            <a:solidFill>
              <a:srgbClr val="EA5D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eyebrow"/>
          <p:cNvSpPr txBox="1"/>
          <p:nvPr/>
        </p:nvSpPr>
        <p:spPr>
          <a:xfrm>
            <a:off x="320040" y="182880"/>
            <a:ext cx="4114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750" b="1">
                <a:solidFill>
                  <a:srgbClr val="5C6978"/>
                </a:solidFill>
                <a:latin typeface="Arial"/>
              </a:rPr>
              <a:t>PROCESSO SELETIVO | RT PRODOPS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20040" y="475488"/>
            <a:ext cx="97840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>
                <a:solidFill>
                  <a:srgbClr val="081F3D"/>
                </a:solidFill>
                <a:latin typeface="Arial"/>
              </a:rPr>
              <a:t>Escolhas, renúncias e governança do plano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320040" y="941832"/>
            <a:ext cx="117043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dirty="0">
                <a:solidFill>
                  <a:srgbClr val="5C6978"/>
                </a:solidFill>
                <a:latin typeface="Arial"/>
              </a:rPr>
              <a:t>A </a:t>
            </a:r>
            <a:r>
              <a:rPr sz="1150" b="0" dirty="0" err="1">
                <a:solidFill>
                  <a:srgbClr val="5C6978"/>
                </a:solidFill>
                <a:latin typeface="Arial"/>
              </a:rPr>
              <a:t>execução</a:t>
            </a:r>
            <a:r>
              <a:rPr sz="1150" b="0" dirty="0">
                <a:solidFill>
                  <a:srgbClr val="5C6978"/>
                </a:solidFill>
                <a:latin typeface="Arial"/>
              </a:rPr>
              <a:t> dos 180 </a:t>
            </a:r>
            <a:r>
              <a:rPr sz="1150" b="0" dirty="0" err="1">
                <a:solidFill>
                  <a:srgbClr val="5C6978"/>
                </a:solidFill>
                <a:latin typeface="Arial"/>
              </a:rPr>
              <a:t>dias</a:t>
            </a:r>
            <a:r>
              <a:rPr sz="1150" b="0" dirty="0">
                <a:solidFill>
                  <a:srgbClr val="5C6978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C6978"/>
                </a:solidFill>
                <a:latin typeface="Arial"/>
              </a:rPr>
              <a:t>precisa</a:t>
            </a:r>
            <a:r>
              <a:rPr sz="1150" b="0" dirty="0">
                <a:solidFill>
                  <a:srgbClr val="5C6978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C6978"/>
                </a:solidFill>
                <a:latin typeface="Arial"/>
              </a:rPr>
              <a:t>deixar</a:t>
            </a:r>
            <a:r>
              <a:rPr sz="1150" b="0" dirty="0">
                <a:solidFill>
                  <a:srgbClr val="5C6978"/>
                </a:solidFill>
                <a:latin typeface="Arial"/>
              </a:rPr>
              <a:t> claro o </a:t>
            </a:r>
            <a:r>
              <a:rPr sz="1150" b="0" dirty="0" err="1">
                <a:solidFill>
                  <a:srgbClr val="5C6978"/>
                </a:solidFill>
                <a:latin typeface="Arial"/>
              </a:rPr>
              <a:t>que</a:t>
            </a:r>
            <a:r>
              <a:rPr sz="1150" b="0" dirty="0">
                <a:solidFill>
                  <a:srgbClr val="5C6978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C6978"/>
                </a:solidFill>
                <a:latin typeface="Arial"/>
              </a:rPr>
              <a:t>será</a:t>
            </a:r>
            <a:r>
              <a:rPr sz="1150" b="0" dirty="0">
                <a:solidFill>
                  <a:srgbClr val="5C6978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C6978"/>
                </a:solidFill>
                <a:latin typeface="Arial"/>
              </a:rPr>
              <a:t>priorizado</a:t>
            </a:r>
            <a:r>
              <a:rPr sz="1150" b="0" dirty="0">
                <a:solidFill>
                  <a:srgbClr val="5C6978"/>
                </a:solidFill>
                <a:latin typeface="Arial"/>
              </a:rPr>
              <a:t>, quem decide e quais </a:t>
            </a:r>
            <a:r>
              <a:rPr sz="1150" b="0" dirty="0" err="1">
                <a:solidFill>
                  <a:srgbClr val="5C6978"/>
                </a:solidFill>
                <a:latin typeface="Arial"/>
              </a:rPr>
              <a:t>evidências</a:t>
            </a:r>
            <a:r>
              <a:rPr sz="1150" b="0" dirty="0">
                <a:solidFill>
                  <a:srgbClr val="5C6978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C6978"/>
                </a:solidFill>
                <a:latin typeface="Arial"/>
              </a:rPr>
              <a:t>provam</a:t>
            </a:r>
            <a:r>
              <a:rPr sz="1150" b="0" dirty="0">
                <a:solidFill>
                  <a:srgbClr val="5C6978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C6978"/>
                </a:solidFill>
                <a:latin typeface="Arial"/>
              </a:rPr>
              <a:t>avanço</a:t>
            </a:r>
            <a:r>
              <a:rPr sz="1150" b="0" dirty="0">
                <a:solidFill>
                  <a:srgbClr val="5C6978"/>
                </a:solidFill>
                <a:latin typeface="Arial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732520"/>
            <a:ext cx="12289536" cy="9144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rincipio_1"/>
          <p:cNvSpPr/>
          <p:nvPr/>
        </p:nvSpPr>
        <p:spPr>
          <a:xfrm>
            <a:off x="320040" y="1325880"/>
            <a:ext cx="3977639" cy="804672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EA5D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num_1"/>
          <p:cNvSpPr txBox="1"/>
          <p:nvPr/>
        </p:nvSpPr>
        <p:spPr>
          <a:xfrm>
            <a:off x="411479" y="1417320"/>
            <a:ext cx="347472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393192" y="1408176"/>
            <a:ext cx="384048" cy="384048"/>
          </a:xfrm>
          <a:prstGeom prst="ellipse">
            <a:avLst/>
          </a:prstGeom>
          <a:solidFill>
            <a:srgbClr val="EA5D15"/>
          </a:solidFill>
          <a:ln>
            <a:solidFill>
              <a:srgbClr val="EA5D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" y="1426464"/>
            <a:ext cx="384048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399032"/>
            <a:ext cx="3337559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1">
                <a:solidFill>
                  <a:srgbClr val="081F3D"/>
                </a:solidFill>
                <a:latin typeface="Arial"/>
              </a:rPr>
              <a:t>Capacidade real antes de nova demanda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645919"/>
            <a:ext cx="3337559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pt-BR" sz="1000" dirty="0"/>
              <a:t>Dar visibilidade à </a:t>
            </a:r>
            <a:r>
              <a:rPr lang="pt-BR" sz="1000" dirty="0">
                <a:solidFill>
                  <a:srgbClr val="161F2F"/>
                </a:solidFill>
                <a:latin typeface="Arial"/>
              </a:rPr>
              <a:t>capacidade</a:t>
            </a:r>
            <a:r>
              <a:rPr lang="pt-BR" sz="1000" dirty="0"/>
              <a:t> real do time e pactuar prioridades entre Build, </a:t>
            </a:r>
            <a:r>
              <a:rPr lang="pt-BR" sz="1000" dirty="0" err="1"/>
              <a:t>Run</a:t>
            </a:r>
            <a:r>
              <a:rPr lang="pt-BR" sz="1000" dirty="0"/>
              <a:t> e modernização.</a:t>
            </a:r>
            <a:endParaRPr sz="1000" b="0" dirty="0">
              <a:solidFill>
                <a:srgbClr val="161F2F"/>
              </a:solidFill>
              <a:latin typeface="Arial"/>
            </a:endParaRPr>
          </a:p>
        </p:txBody>
      </p:sp>
      <p:sp>
        <p:nvSpPr>
          <p:cNvPr id="13" name="principio_2"/>
          <p:cNvSpPr/>
          <p:nvPr/>
        </p:nvSpPr>
        <p:spPr>
          <a:xfrm>
            <a:off x="4462271" y="1325880"/>
            <a:ext cx="3977639" cy="804672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num_2"/>
          <p:cNvSpPr txBox="1"/>
          <p:nvPr/>
        </p:nvSpPr>
        <p:spPr>
          <a:xfrm>
            <a:off x="4553711" y="1417320"/>
            <a:ext cx="347472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4535423" y="1408176"/>
            <a:ext cx="384048" cy="384048"/>
          </a:xfrm>
          <a:prstGeom prst="ellipse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5423" y="1426464"/>
            <a:ext cx="384048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3" y="1399032"/>
            <a:ext cx="3337559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1">
                <a:solidFill>
                  <a:srgbClr val="081F3D"/>
                </a:solidFill>
                <a:latin typeface="Arial"/>
              </a:rPr>
              <a:t>Valor, risco e custo orientam a prioridade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3" y="1645919"/>
            <a:ext cx="333755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0" dirty="0" err="1">
                <a:solidFill>
                  <a:srgbClr val="161F2F"/>
                </a:solidFill>
                <a:latin typeface="Arial"/>
              </a:rPr>
              <a:t>Modernização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 e FinOps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avançam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por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evidências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,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não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por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lista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técnica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.</a:t>
            </a:r>
          </a:p>
        </p:txBody>
      </p:sp>
      <p:sp>
        <p:nvSpPr>
          <p:cNvPr id="19" name="principio_3"/>
          <p:cNvSpPr/>
          <p:nvPr/>
        </p:nvSpPr>
        <p:spPr>
          <a:xfrm>
            <a:off x="8604503" y="1325880"/>
            <a:ext cx="3977639" cy="804672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14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num_3"/>
          <p:cNvSpPr txBox="1"/>
          <p:nvPr/>
        </p:nvSpPr>
        <p:spPr>
          <a:xfrm>
            <a:off x="8695943" y="1417320"/>
            <a:ext cx="347472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Oval 20"/>
          <p:cNvSpPr/>
          <p:nvPr/>
        </p:nvSpPr>
        <p:spPr>
          <a:xfrm>
            <a:off x="8677655" y="1408176"/>
            <a:ext cx="384048" cy="384048"/>
          </a:xfrm>
          <a:prstGeom prst="ellipse">
            <a:avLst/>
          </a:prstGeom>
          <a:solidFill>
            <a:srgbClr val="148753"/>
          </a:solidFill>
          <a:ln>
            <a:solidFill>
              <a:srgbClr val="14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77655" y="1426464"/>
            <a:ext cx="384048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5" y="1399032"/>
            <a:ext cx="3337559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1">
                <a:solidFill>
                  <a:srgbClr val="081F3D"/>
                </a:solidFill>
                <a:latin typeface="Arial"/>
              </a:rPr>
              <a:t>Autonomia sustentável do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5" y="1645919"/>
            <a:ext cx="333755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0" dirty="0" err="1">
                <a:solidFill>
                  <a:srgbClr val="161F2F"/>
                </a:solidFill>
                <a:latin typeface="Arial"/>
              </a:rPr>
              <a:t>Coordenação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cria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contexto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,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limites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 e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cadência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; o time assume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decisões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progressivamente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2340864"/>
            <a:ext cx="5623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081F3D"/>
                </a:solidFill>
                <a:latin typeface="Arial"/>
              </a:rPr>
              <a:t>Decisões que eu tomaria como coordenação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2697480"/>
            <a:ext cx="278892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/>
          <a:lstStyle/>
          <a:p>
            <a:pPr algn="ctr"/>
            <a:r>
              <a:rPr sz="1300" b="1" dirty="0" err="1">
                <a:solidFill>
                  <a:srgbClr val="005EB8"/>
                </a:solidFill>
                <a:latin typeface="Arial"/>
              </a:rPr>
              <a:t>Escolhas</a:t>
            </a:r>
            <a:r>
              <a:rPr sz="1300" b="1" dirty="0">
                <a:solidFill>
                  <a:srgbClr val="005EB8"/>
                </a:solidFill>
                <a:latin typeface="Arial"/>
              </a:rPr>
              <a:t> de </a:t>
            </a:r>
            <a:r>
              <a:rPr sz="1300" b="1" dirty="0" err="1">
                <a:solidFill>
                  <a:srgbClr val="005EB8"/>
                </a:solidFill>
                <a:latin typeface="Arial"/>
              </a:rPr>
              <a:t>foco</a:t>
            </a:r>
            <a:endParaRPr sz="1300" b="1" dirty="0">
              <a:solidFill>
                <a:srgbClr val="005EB8"/>
              </a:solidFill>
              <a:latin typeface="Arial"/>
            </a:endParaRP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Proteger</a:t>
            </a:r>
            <a:r>
              <a:rPr dirty="0"/>
              <a:t> </a:t>
            </a:r>
            <a:r>
              <a:rPr dirty="0" err="1"/>
              <a:t>capacidade</a:t>
            </a:r>
            <a:r>
              <a:rPr dirty="0"/>
              <a:t> para </a:t>
            </a:r>
            <a:r>
              <a:rPr dirty="0" err="1"/>
              <a:t>transformação</a:t>
            </a:r>
            <a:endParaRPr dirty="0"/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Priorizar</a:t>
            </a:r>
            <a:r>
              <a:rPr dirty="0"/>
              <a:t> jornadas </a:t>
            </a:r>
            <a:r>
              <a:rPr dirty="0" err="1"/>
              <a:t>críticas</a:t>
            </a:r>
            <a:r>
              <a:rPr dirty="0"/>
              <a:t> e </a:t>
            </a:r>
            <a:r>
              <a:rPr dirty="0" err="1"/>
              <a:t>risco</a:t>
            </a:r>
            <a:r>
              <a:rPr dirty="0"/>
              <a:t> </a:t>
            </a:r>
            <a:r>
              <a:rPr dirty="0" err="1"/>
              <a:t>operacional</a:t>
            </a:r>
            <a:endParaRPr dirty="0"/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Modernizar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ondas</a:t>
            </a:r>
            <a:r>
              <a:rPr dirty="0"/>
              <a:t> </a:t>
            </a:r>
            <a:r>
              <a:rPr dirty="0" err="1"/>
              <a:t>até</a:t>
            </a:r>
            <a:r>
              <a:rPr dirty="0"/>
              <a:t> 2028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Aplicar</a:t>
            </a:r>
            <a:r>
              <a:rPr dirty="0"/>
              <a:t> IA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problema</a:t>
            </a:r>
            <a:r>
              <a:rPr dirty="0"/>
              <a:t> real, com baseline e </a:t>
            </a:r>
            <a:r>
              <a:rPr dirty="0" err="1"/>
              <a:t>métrica</a:t>
            </a:r>
            <a:endParaRPr dirty="0"/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rPr lang="pt-BR" dirty="0"/>
              <a:t>• </a:t>
            </a:r>
            <a:r>
              <a:rPr lang="pt-BR" sz="1050" dirty="0">
                <a:solidFill>
                  <a:srgbClr val="161F2F"/>
                </a:solidFill>
                <a:latin typeface="Arial"/>
              </a:rPr>
              <a:t>Trazer o fornecedor para o contexto, fazendo-o se sentir parte e dono das demandas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rPr dirty="0"/>
              <a:t>• Dar </a:t>
            </a:r>
            <a:r>
              <a:rPr dirty="0" err="1"/>
              <a:t>visibilidade</a:t>
            </a:r>
            <a:r>
              <a:rPr dirty="0"/>
              <a:t> </a:t>
            </a:r>
            <a:r>
              <a:rPr dirty="0" err="1"/>
              <a:t>executiva</a:t>
            </a:r>
            <a:r>
              <a:rPr dirty="0"/>
              <a:t> simples e </a:t>
            </a:r>
            <a:r>
              <a:rPr dirty="0" err="1"/>
              <a:t>frequente</a:t>
            </a:r>
            <a:endParaRPr lang="pt-BR" dirty="0"/>
          </a:p>
        </p:txBody>
      </p:sp>
      <p:sp>
        <p:nvSpPr>
          <p:cNvPr id="27" name="Rounded Rectangle 26"/>
          <p:cNvSpPr/>
          <p:nvPr/>
        </p:nvSpPr>
        <p:spPr>
          <a:xfrm>
            <a:off x="3246120" y="2697480"/>
            <a:ext cx="2788920" cy="2651760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/>
          <a:lstStyle/>
          <a:p>
            <a:pPr algn="ctr"/>
            <a:r>
              <a:rPr sz="1300" b="1" dirty="0" err="1">
                <a:solidFill>
                  <a:srgbClr val="EA5D15"/>
                </a:solidFill>
                <a:latin typeface="Arial"/>
              </a:rPr>
              <a:t>Renúncias</a:t>
            </a:r>
            <a:r>
              <a:rPr sz="1300" b="1" dirty="0">
                <a:solidFill>
                  <a:srgbClr val="EA5D15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EA5D15"/>
                </a:solidFill>
                <a:latin typeface="Arial"/>
              </a:rPr>
              <a:t>explícitas</a:t>
            </a:r>
            <a:endParaRPr sz="1300" b="1" dirty="0">
              <a:solidFill>
                <a:srgbClr val="EA5D15"/>
              </a:solidFill>
              <a:latin typeface="Arial"/>
            </a:endParaRP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modernizar</a:t>
            </a:r>
            <a:r>
              <a:rPr dirty="0"/>
              <a:t> </a:t>
            </a:r>
            <a:r>
              <a:rPr dirty="0" err="1"/>
              <a:t>tudo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mesmo</a:t>
            </a:r>
            <a:r>
              <a:rPr dirty="0"/>
              <a:t> tempo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aceitar</a:t>
            </a:r>
            <a:r>
              <a:rPr dirty="0"/>
              <a:t> </a:t>
            </a:r>
            <a:r>
              <a:rPr dirty="0" err="1"/>
              <a:t>tudo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prioridade</a:t>
            </a:r>
            <a:endParaRPr dirty="0"/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centralizar</a:t>
            </a:r>
            <a:r>
              <a:rPr dirty="0"/>
              <a:t> </a:t>
            </a:r>
            <a:r>
              <a:rPr dirty="0" err="1"/>
              <a:t>decisões</a:t>
            </a:r>
            <a:r>
              <a:rPr dirty="0"/>
              <a:t> </a:t>
            </a:r>
            <a:r>
              <a:rPr dirty="0" err="1"/>
              <a:t>operacionais</a:t>
            </a:r>
            <a:endParaRPr dirty="0"/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manter</a:t>
            </a:r>
            <a:r>
              <a:rPr dirty="0"/>
              <a:t> </a:t>
            </a:r>
            <a:r>
              <a:rPr dirty="0" err="1"/>
              <a:t>manualidade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questionar</a:t>
            </a:r>
            <a:r>
              <a:rPr dirty="0"/>
              <a:t> valor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escalar</a:t>
            </a:r>
            <a:r>
              <a:rPr dirty="0"/>
              <a:t> IA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evidência</a:t>
            </a:r>
            <a:r>
              <a:rPr dirty="0"/>
              <a:t> de valor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340864"/>
            <a:ext cx="62636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dirty="0" err="1">
                <a:solidFill>
                  <a:srgbClr val="081F3D"/>
                </a:solidFill>
                <a:latin typeface="Arial"/>
              </a:rPr>
              <a:t>Responsáveis</a:t>
            </a:r>
            <a:r>
              <a:rPr sz="1500" b="1" dirty="0">
                <a:solidFill>
                  <a:srgbClr val="081F3D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81F3D"/>
                </a:solidFill>
                <a:latin typeface="Arial"/>
              </a:rPr>
              <a:t>por</a:t>
            </a:r>
            <a:r>
              <a:rPr sz="1500" b="1" dirty="0">
                <a:solidFill>
                  <a:srgbClr val="081F3D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81F3D"/>
                </a:solidFill>
                <a:latin typeface="Arial"/>
              </a:rPr>
              <a:t>papel</a:t>
            </a:r>
            <a:r>
              <a:rPr sz="1500" b="1" dirty="0">
                <a:solidFill>
                  <a:srgbClr val="081F3D"/>
                </a:solidFill>
                <a:latin typeface="Arial"/>
              </a:rPr>
              <a:t>, </a:t>
            </a:r>
            <a:r>
              <a:rPr sz="1500" b="1" dirty="0" err="1">
                <a:solidFill>
                  <a:srgbClr val="081F3D"/>
                </a:solidFill>
                <a:latin typeface="Arial"/>
              </a:rPr>
              <a:t>não</a:t>
            </a:r>
            <a:r>
              <a:rPr sz="1500" b="1" dirty="0">
                <a:solidFill>
                  <a:srgbClr val="081F3D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81F3D"/>
                </a:solidFill>
                <a:latin typeface="Arial"/>
              </a:rPr>
              <a:t>por</a:t>
            </a:r>
            <a:r>
              <a:rPr sz="1500" b="1" dirty="0">
                <a:solidFill>
                  <a:srgbClr val="081F3D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81F3D"/>
                </a:solidFill>
                <a:latin typeface="Arial"/>
              </a:rPr>
              <a:t>centralização</a:t>
            </a:r>
            <a:endParaRPr sz="1500" b="1" dirty="0">
              <a:solidFill>
                <a:srgbClr val="081F3D"/>
              </a:solidFill>
              <a:latin typeface="Arial"/>
            </a:endParaRPr>
          </a:p>
        </p:txBody>
      </p:sp>
      <p:sp>
        <p:nvSpPr>
          <p:cNvPr id="29" name="governanca"/>
          <p:cNvSpPr/>
          <p:nvPr/>
        </p:nvSpPr>
        <p:spPr>
          <a:xfrm>
            <a:off x="6263640" y="2948940"/>
            <a:ext cx="6355080" cy="24003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3067812"/>
            <a:ext cx="1645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60" b="1">
                <a:solidFill>
                  <a:srgbClr val="081F3D"/>
                </a:solidFill>
                <a:latin typeface="Arial"/>
              </a:rPr>
              <a:t>Frente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3067812"/>
            <a:ext cx="20116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60" b="1">
                <a:solidFill>
                  <a:srgbClr val="081F3D"/>
                </a:solidFill>
                <a:latin typeface="Arial"/>
              </a:rPr>
              <a:t>Owner principal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3067812"/>
            <a:ext cx="23317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60" b="1">
                <a:solidFill>
                  <a:srgbClr val="081F3D"/>
                </a:solidFill>
                <a:latin typeface="Arial"/>
              </a:rPr>
              <a:t>Evidência de avanço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323844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3378708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Pessoas/capacidade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3378708"/>
            <a:ext cx="2011680" cy="2445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pt-BR" sz="869" dirty="0">
                <a:solidFill>
                  <a:srgbClr val="161F2F"/>
                </a:solidFill>
                <a:latin typeface="Arial"/>
              </a:rPr>
              <a:t>GTM com a Tríade</a:t>
            </a:r>
            <a:endParaRPr sz="869" b="0" dirty="0">
              <a:solidFill>
                <a:srgbClr val="161F2F"/>
              </a:solidFill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058400" y="3378708"/>
            <a:ext cx="2331720" cy="2445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pt-BR" sz="869" b="0" dirty="0">
                <a:solidFill>
                  <a:srgbClr val="161F2F"/>
                </a:solidFill>
                <a:latin typeface="Arial"/>
              </a:rPr>
              <a:t>Papéis, donos, e backups combinados</a:t>
            </a:r>
            <a:endParaRPr sz="869" b="0" dirty="0">
              <a:solidFill>
                <a:srgbClr val="161F2F"/>
              </a:solidFill>
              <a:latin typeface="Arial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400800" y="3634739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3689604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Operação/jornadas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3689604"/>
            <a:ext cx="2011680" cy="2445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pt-BR" sz="869" dirty="0">
                <a:solidFill>
                  <a:srgbClr val="161F2F"/>
                </a:solidFill>
                <a:latin typeface="Arial"/>
              </a:rPr>
              <a:t>Tríade</a:t>
            </a:r>
            <a:r>
              <a:rPr sz="869" b="0" dirty="0">
                <a:solidFill>
                  <a:srgbClr val="161F2F"/>
                </a:solidFill>
                <a:latin typeface="Arial"/>
              </a:rPr>
              <a:t> + </a:t>
            </a:r>
            <a:r>
              <a:rPr lang="pt-BR" sz="869" dirty="0">
                <a:solidFill>
                  <a:srgbClr val="161F2F"/>
                </a:solidFill>
                <a:latin typeface="Arial"/>
              </a:rPr>
              <a:t>Business Team</a:t>
            </a:r>
            <a:endParaRPr sz="869" b="0" dirty="0">
              <a:solidFill>
                <a:srgbClr val="161F2F"/>
              </a:solidFill>
              <a:latin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058400" y="3689604"/>
            <a:ext cx="2331720" cy="2445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pt-BR" sz="869" dirty="0">
                <a:solidFill>
                  <a:srgbClr val="161F2F"/>
                </a:solidFill>
                <a:latin typeface="Arial"/>
              </a:rPr>
              <a:t>Mapeamento das jornadas e processos</a:t>
            </a:r>
            <a:endParaRPr sz="869" b="0" dirty="0">
              <a:solidFill>
                <a:srgbClr val="161F2F"/>
              </a:solidFill>
              <a:latin typeface="Arial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400800" y="3945636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4000499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Modernização/FinOps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4000499"/>
            <a:ext cx="2011680" cy="2445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pt-BR" sz="869" b="0" dirty="0" err="1">
                <a:solidFill>
                  <a:srgbClr val="161F2F"/>
                </a:solidFill>
                <a:latin typeface="Arial"/>
              </a:rPr>
              <a:t>Squad</a:t>
            </a:r>
            <a:r>
              <a:rPr lang="pt-BR" sz="869" b="0" dirty="0">
                <a:solidFill>
                  <a:srgbClr val="161F2F"/>
                </a:solidFill>
                <a:latin typeface="Arial"/>
              </a:rPr>
              <a:t>, com apoio GTM</a:t>
            </a:r>
            <a:endParaRPr sz="869" b="0" dirty="0">
              <a:solidFill>
                <a:srgbClr val="161F2F"/>
              </a:solidFill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58400" y="3914765"/>
            <a:ext cx="2697480" cy="37830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pt-BR" sz="869" b="0" dirty="0">
                <a:solidFill>
                  <a:srgbClr val="161F2F"/>
                </a:solidFill>
                <a:latin typeface="Arial"/>
              </a:rPr>
              <a:t>Ondas priorizadas, custos, acompanhamento e </a:t>
            </a:r>
            <a:r>
              <a:rPr lang="pt-BR" sz="869" b="0" dirty="0" err="1">
                <a:solidFill>
                  <a:srgbClr val="161F2F"/>
                </a:solidFill>
                <a:latin typeface="Arial"/>
              </a:rPr>
              <a:t>roadmap</a:t>
            </a:r>
            <a:r>
              <a:rPr lang="pt-BR" sz="869" b="0" dirty="0">
                <a:solidFill>
                  <a:srgbClr val="161F2F"/>
                </a:solidFill>
                <a:latin typeface="Arial"/>
              </a:rPr>
              <a:t> 2028 atualizado</a:t>
            </a:r>
            <a:endParaRPr sz="869" b="0" dirty="0">
              <a:solidFill>
                <a:srgbClr val="161F2F"/>
              </a:solidFill>
              <a:latin typeface="Arial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400800" y="4256532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0" y="4311395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Consumidores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4311395"/>
            <a:ext cx="2011680" cy="2445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869" b="0" dirty="0" err="1">
                <a:solidFill>
                  <a:srgbClr val="161F2F"/>
                </a:solidFill>
                <a:latin typeface="Arial"/>
              </a:rPr>
              <a:t>Produto</a:t>
            </a:r>
            <a:r>
              <a:rPr lang="pt-BR" sz="869" b="0" dirty="0">
                <a:solidFill>
                  <a:srgbClr val="161F2F"/>
                </a:solidFill>
                <a:latin typeface="Arial"/>
              </a:rPr>
              <a:t>s +</a:t>
            </a:r>
            <a:r>
              <a:rPr sz="869" b="0" dirty="0">
                <a:solidFill>
                  <a:srgbClr val="161F2F"/>
                </a:solidFill>
                <a:latin typeface="Arial"/>
              </a:rPr>
              <a:t> </a:t>
            </a:r>
            <a:r>
              <a:rPr lang="pt-BR" sz="869" dirty="0">
                <a:solidFill>
                  <a:srgbClr val="161F2F"/>
                </a:solidFill>
                <a:latin typeface="Arial"/>
              </a:rPr>
              <a:t>Tríade, com apoio GTM</a:t>
            </a:r>
            <a:endParaRPr sz="869" b="0" dirty="0">
              <a:solidFill>
                <a:srgbClr val="161F2F"/>
              </a:solidFill>
              <a:latin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058400" y="4311395"/>
            <a:ext cx="2697480" cy="2445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pt-BR" sz="869" b="0" dirty="0">
                <a:solidFill>
                  <a:srgbClr val="161F2F"/>
                </a:solidFill>
                <a:latin typeface="Arial"/>
              </a:rPr>
              <a:t>P</a:t>
            </a:r>
            <a:r>
              <a:rPr sz="869" b="0" dirty="0" err="1">
                <a:solidFill>
                  <a:srgbClr val="161F2F"/>
                </a:solidFill>
                <a:latin typeface="Arial"/>
              </a:rPr>
              <a:t>rioridades</a:t>
            </a:r>
            <a:r>
              <a:rPr lang="pt-BR" sz="869" b="0" dirty="0">
                <a:solidFill>
                  <a:srgbClr val="161F2F"/>
                </a:solidFill>
                <a:latin typeface="Arial"/>
              </a:rPr>
              <a:t>, dependências </a:t>
            </a:r>
            <a:r>
              <a:rPr sz="869" b="0" dirty="0">
                <a:solidFill>
                  <a:srgbClr val="161F2F"/>
                </a:solidFill>
                <a:latin typeface="Arial"/>
              </a:rPr>
              <a:t> e trade-offs </a:t>
            </a:r>
            <a:r>
              <a:rPr lang="pt-BR" sz="869" b="0" dirty="0">
                <a:solidFill>
                  <a:srgbClr val="161F2F"/>
                </a:solidFill>
                <a:latin typeface="Arial"/>
              </a:rPr>
              <a:t>acordados</a:t>
            </a:r>
            <a:endParaRPr sz="869" b="0" dirty="0">
              <a:solidFill>
                <a:srgbClr val="161F2F"/>
              </a:solidFill>
              <a:latin typeface="Arial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400800" y="4567428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0" y="4622291"/>
            <a:ext cx="1645920" cy="2445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69" b="0" dirty="0">
                <a:solidFill>
                  <a:srgbClr val="161F2F"/>
                </a:solidFill>
                <a:latin typeface="Arial"/>
              </a:rPr>
              <a:t>IA</a:t>
            </a:r>
            <a:r>
              <a:rPr lang="pt-BR" sz="869" b="0" dirty="0">
                <a:solidFill>
                  <a:srgbClr val="161F2F"/>
                </a:solidFill>
                <a:latin typeface="Arial"/>
              </a:rPr>
              <a:t> aplicada jornada</a:t>
            </a:r>
            <a:endParaRPr sz="869" b="0" dirty="0">
              <a:solidFill>
                <a:srgbClr val="161F2F"/>
              </a:solidFill>
              <a:latin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046720" y="4622291"/>
            <a:ext cx="2011680" cy="2445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pt-BR" sz="869" b="0" dirty="0">
                <a:solidFill>
                  <a:srgbClr val="161F2F"/>
                </a:solidFill>
                <a:latin typeface="Arial"/>
              </a:rPr>
              <a:t>Engenharia + </a:t>
            </a:r>
            <a:r>
              <a:rPr lang="pt-BR" sz="869" dirty="0">
                <a:solidFill>
                  <a:srgbClr val="161F2F"/>
                </a:solidFill>
                <a:latin typeface="Arial"/>
              </a:rPr>
              <a:t>Business Team</a:t>
            </a:r>
            <a:endParaRPr sz="869" b="0" dirty="0">
              <a:solidFill>
                <a:srgbClr val="161F2F"/>
              </a:solidFill>
              <a:latin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058400" y="4622291"/>
            <a:ext cx="278892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pt-BR" sz="900" b="0" dirty="0">
                <a:solidFill>
                  <a:srgbClr val="161F2F"/>
                </a:solidFill>
                <a:latin typeface="Arial"/>
              </a:rPr>
              <a:t>Baseline, piloto medido, IA difundida no time </a:t>
            </a:r>
            <a:endParaRPr sz="900" b="0" dirty="0">
              <a:solidFill>
                <a:srgbClr val="161F2F"/>
              </a:solidFill>
              <a:latin typeface="Arial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400800" y="4878324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0" y="4933187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Fornecedor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4933187"/>
            <a:ext cx="2011680" cy="2445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pt-BR" sz="869" dirty="0">
                <a:solidFill>
                  <a:srgbClr val="161F2F"/>
                </a:solidFill>
                <a:latin typeface="Arial"/>
              </a:rPr>
              <a:t>GTM + Tríade</a:t>
            </a:r>
            <a:endParaRPr sz="869" b="0" dirty="0">
              <a:solidFill>
                <a:srgbClr val="161F2F"/>
              </a:solidFill>
              <a:latin typeface="Arial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058400" y="4933187"/>
            <a:ext cx="2523742" cy="37830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pt-BR" sz="869" b="0" dirty="0">
                <a:solidFill>
                  <a:srgbClr val="161F2F"/>
                </a:solidFill>
                <a:latin typeface="Arial"/>
              </a:rPr>
              <a:t>Acordos claros, pendências, acompanhamentos e escalonamento quando necessário</a:t>
            </a:r>
            <a:endParaRPr sz="869" b="0" dirty="0">
              <a:solidFill>
                <a:srgbClr val="161F2F"/>
              </a:solidFill>
              <a:latin typeface="Arial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20040" y="5440680"/>
            <a:ext cx="1216152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dirty="0" err="1">
                <a:solidFill>
                  <a:srgbClr val="081F3D"/>
                </a:solidFill>
                <a:latin typeface="Arial"/>
              </a:rPr>
              <a:t>Indicadores</a:t>
            </a:r>
            <a:r>
              <a:rPr sz="1500" b="1" dirty="0">
                <a:solidFill>
                  <a:srgbClr val="081F3D"/>
                </a:solidFill>
                <a:latin typeface="Arial"/>
              </a:rPr>
              <a:t>: baseline </a:t>
            </a:r>
            <a:r>
              <a:rPr sz="1500" b="1" dirty="0" err="1">
                <a:solidFill>
                  <a:srgbClr val="081F3D"/>
                </a:solidFill>
                <a:latin typeface="Arial"/>
              </a:rPr>
              <a:t>primeiro</a:t>
            </a:r>
            <a:r>
              <a:rPr sz="1500" b="1" dirty="0">
                <a:solidFill>
                  <a:srgbClr val="081F3D"/>
                </a:solidFill>
                <a:latin typeface="Arial"/>
              </a:rPr>
              <a:t>; </a:t>
            </a:r>
            <a:r>
              <a:rPr sz="1500" b="1" dirty="0" err="1">
                <a:solidFill>
                  <a:srgbClr val="081F3D"/>
                </a:solidFill>
                <a:latin typeface="Arial"/>
              </a:rPr>
              <a:t>medir</a:t>
            </a:r>
            <a:r>
              <a:rPr sz="1500" b="1" dirty="0">
                <a:solidFill>
                  <a:srgbClr val="081F3D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81F3D"/>
                </a:solidFill>
                <a:latin typeface="Arial"/>
              </a:rPr>
              <a:t>fluxo</a:t>
            </a:r>
            <a:r>
              <a:rPr sz="1500" b="1" dirty="0">
                <a:solidFill>
                  <a:srgbClr val="081F3D"/>
                </a:solidFill>
                <a:latin typeface="Arial"/>
              </a:rPr>
              <a:t>, </a:t>
            </a:r>
            <a:r>
              <a:rPr sz="1500" b="1" dirty="0" err="1">
                <a:solidFill>
                  <a:srgbClr val="081F3D"/>
                </a:solidFill>
                <a:latin typeface="Arial"/>
              </a:rPr>
              <a:t>qualidade</a:t>
            </a:r>
            <a:r>
              <a:rPr sz="1500" b="1" dirty="0">
                <a:solidFill>
                  <a:srgbClr val="081F3D"/>
                </a:solidFill>
                <a:latin typeface="Arial"/>
              </a:rPr>
              <a:t> e </a:t>
            </a:r>
            <a:r>
              <a:rPr sz="1500" b="1" dirty="0" err="1">
                <a:solidFill>
                  <a:srgbClr val="081F3D"/>
                </a:solidFill>
                <a:latin typeface="Arial"/>
              </a:rPr>
              <a:t>capacidade</a:t>
            </a:r>
            <a:r>
              <a:rPr sz="1500" b="1" dirty="0">
                <a:solidFill>
                  <a:srgbClr val="081F3D"/>
                </a:solidFill>
                <a:latin typeface="Arial"/>
              </a:rPr>
              <a:t> — inclusive </a:t>
            </a:r>
            <a:r>
              <a:rPr sz="1500" b="1" dirty="0" err="1">
                <a:solidFill>
                  <a:srgbClr val="081F3D"/>
                </a:solidFill>
                <a:latin typeface="Arial"/>
              </a:rPr>
              <a:t>nos</a:t>
            </a:r>
            <a:r>
              <a:rPr sz="1500" b="1" dirty="0">
                <a:solidFill>
                  <a:srgbClr val="081F3D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81F3D"/>
                </a:solidFill>
                <a:latin typeface="Arial"/>
              </a:rPr>
              <a:t>experimentos</a:t>
            </a:r>
            <a:r>
              <a:rPr sz="1500" b="1" dirty="0">
                <a:solidFill>
                  <a:srgbClr val="081F3D"/>
                </a:solidFill>
                <a:latin typeface="Arial"/>
              </a:rPr>
              <a:t> de IA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0040" y="5806440"/>
            <a:ext cx="4005072" cy="1600200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/>
          <a:lstStyle/>
          <a:p>
            <a:pPr algn="ctr"/>
            <a:r>
              <a:rPr sz="1350" b="1" dirty="0">
                <a:solidFill>
                  <a:srgbClr val="EA5D15"/>
                </a:solidFill>
                <a:latin typeface="Arial"/>
              </a:rPr>
              <a:t>D30 | Baseline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capacidade</a:t>
            </a:r>
            <a:r>
              <a:rPr dirty="0"/>
              <a:t> </a:t>
            </a:r>
            <a:r>
              <a:rPr lang="pt-BR" dirty="0"/>
              <a:t>Build x </a:t>
            </a:r>
            <a:r>
              <a:rPr dirty="0"/>
              <a:t>Run x </a:t>
            </a:r>
            <a:r>
              <a:rPr dirty="0" err="1"/>
              <a:t>Modernização</a:t>
            </a:r>
            <a:endParaRPr dirty="0"/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incidentes</a:t>
            </a:r>
            <a:r>
              <a:rPr dirty="0"/>
              <a:t> </a:t>
            </a:r>
            <a:r>
              <a:rPr dirty="0" err="1"/>
              <a:t>recorrentes</a:t>
            </a:r>
            <a:r>
              <a:rPr dirty="0"/>
              <a:t> e MTTR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rPr dirty="0"/>
              <a:t>• custos AWS </a:t>
            </a:r>
            <a:r>
              <a:rPr dirty="0" err="1"/>
              <a:t>por</a:t>
            </a:r>
            <a:r>
              <a:rPr dirty="0"/>
              <a:t> workload/jornada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concentração</a:t>
            </a:r>
            <a:r>
              <a:rPr dirty="0"/>
              <a:t> de </a:t>
            </a:r>
            <a:r>
              <a:rPr dirty="0" err="1"/>
              <a:t>conhecimento</a:t>
            </a:r>
            <a:endParaRPr dirty="0"/>
          </a:p>
        </p:txBody>
      </p:sp>
      <p:sp>
        <p:nvSpPr>
          <p:cNvPr id="59" name="Rounded Rectangle 58"/>
          <p:cNvSpPr/>
          <p:nvPr/>
        </p:nvSpPr>
        <p:spPr>
          <a:xfrm>
            <a:off x="4507992" y="5806440"/>
            <a:ext cx="4005072" cy="1600200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/>
          <a:lstStyle/>
          <a:p>
            <a:pPr algn="ctr"/>
            <a:r>
              <a:rPr sz="1350" b="1" dirty="0">
                <a:solidFill>
                  <a:srgbClr val="005EB8"/>
                </a:solidFill>
                <a:latin typeface="Arial"/>
              </a:rPr>
              <a:t>D90 | </a:t>
            </a:r>
            <a:r>
              <a:rPr sz="1350" b="1" dirty="0" err="1">
                <a:solidFill>
                  <a:srgbClr val="005EB8"/>
                </a:solidFill>
                <a:latin typeface="Arial"/>
              </a:rPr>
              <a:t>Tendência</a:t>
            </a:r>
            <a:endParaRPr sz="1350" b="1" dirty="0">
              <a:solidFill>
                <a:srgbClr val="005EB8"/>
              </a:solidFill>
              <a:latin typeface="Arial"/>
            </a:endParaRP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rPr dirty="0"/>
              <a:t>• quick wins </a:t>
            </a:r>
            <a:r>
              <a:rPr dirty="0" err="1"/>
              <a:t>percebidos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negócio</a:t>
            </a:r>
            <a:endParaRPr dirty="0"/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rPr dirty="0"/>
              <a:t>• jornadas </a:t>
            </a:r>
            <a:r>
              <a:rPr dirty="0" err="1"/>
              <a:t>críticas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observáveis</a:t>
            </a:r>
            <a:endParaRPr dirty="0"/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piloto</a:t>
            </a:r>
            <a:r>
              <a:rPr dirty="0"/>
              <a:t> de IA </a:t>
            </a:r>
            <a:r>
              <a:rPr dirty="0" err="1"/>
              <a:t>medido</a:t>
            </a:r>
            <a:r>
              <a:rPr dirty="0"/>
              <a:t> no </a:t>
            </a:r>
            <a:r>
              <a:rPr dirty="0" err="1"/>
              <a:t>fluxo</a:t>
            </a:r>
            <a:r>
              <a:rPr dirty="0"/>
              <a:t> </a:t>
            </a:r>
            <a:r>
              <a:rPr dirty="0" err="1"/>
              <a:t>ponta</a:t>
            </a:r>
            <a:r>
              <a:rPr dirty="0"/>
              <a:t> a </a:t>
            </a:r>
            <a:r>
              <a:rPr dirty="0" err="1"/>
              <a:t>ponta</a:t>
            </a:r>
            <a:endParaRPr dirty="0"/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redução</a:t>
            </a:r>
            <a:r>
              <a:rPr dirty="0"/>
              <a:t> de </a:t>
            </a:r>
            <a:r>
              <a:rPr dirty="0" err="1"/>
              <a:t>retrabalho</a:t>
            </a:r>
            <a:r>
              <a:rPr dirty="0"/>
              <a:t> e </a:t>
            </a:r>
            <a:r>
              <a:rPr dirty="0" err="1"/>
              <a:t>conflitos</a:t>
            </a:r>
            <a:endParaRPr dirty="0"/>
          </a:p>
        </p:txBody>
      </p:sp>
      <p:sp>
        <p:nvSpPr>
          <p:cNvPr id="60" name="Rounded Rectangle 59"/>
          <p:cNvSpPr/>
          <p:nvPr/>
        </p:nvSpPr>
        <p:spPr>
          <a:xfrm>
            <a:off x="8695944" y="5806440"/>
            <a:ext cx="4005072" cy="1600200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/>
          <a:lstStyle/>
          <a:p>
            <a:pPr algn="ctr"/>
            <a:r>
              <a:rPr sz="1350" b="1" dirty="0">
                <a:solidFill>
                  <a:srgbClr val="148753"/>
                </a:solidFill>
                <a:latin typeface="Arial"/>
              </a:rPr>
              <a:t>D180 | </a:t>
            </a:r>
            <a:r>
              <a:rPr sz="1350" b="1" dirty="0" err="1">
                <a:solidFill>
                  <a:srgbClr val="148753"/>
                </a:solidFill>
                <a:latin typeface="Arial"/>
              </a:rPr>
              <a:t>Resultado</a:t>
            </a:r>
            <a:endParaRPr sz="1350" b="1" dirty="0">
              <a:solidFill>
                <a:srgbClr val="148753"/>
              </a:solidFill>
              <a:latin typeface="Arial"/>
            </a:endParaRPr>
          </a:p>
          <a:p>
            <a:pPr marL="171450" indent="-171450">
              <a:spcAft>
                <a:spcPts val="100"/>
              </a:spcAft>
              <a:buFont typeface="Arial" panose="020B0604020202020204" pitchFamily="34" charset="0"/>
              <a:buChar char="•"/>
              <a:defRPr sz="1019">
                <a:solidFill>
                  <a:srgbClr val="161F2F"/>
                </a:solidFill>
                <a:latin typeface="Arial"/>
              </a:defRPr>
            </a:pPr>
            <a:r>
              <a:rPr dirty="0"/>
              <a:t>time decide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escalonar</a:t>
            </a:r>
            <a:endParaRPr dirty="0"/>
          </a:p>
          <a:p>
            <a:pPr marL="171450" indent="-171450">
              <a:spcAft>
                <a:spcPts val="100"/>
              </a:spcAft>
              <a:buFont typeface="Arial" panose="020B0604020202020204" pitchFamily="34" charset="0"/>
              <a:buChar char="•"/>
              <a:defRPr sz="1019">
                <a:solidFill>
                  <a:srgbClr val="161F2F"/>
                </a:solidFill>
                <a:latin typeface="Arial"/>
              </a:defRPr>
            </a:pPr>
            <a:r>
              <a:rPr dirty="0"/>
              <a:t>roadmap 2028 </a:t>
            </a:r>
            <a:r>
              <a:rPr dirty="0" err="1"/>
              <a:t>protegido</a:t>
            </a:r>
            <a:endParaRPr dirty="0"/>
          </a:p>
          <a:p>
            <a:pPr marL="171450" indent="-171450">
              <a:spcAft>
                <a:spcPts val="100"/>
              </a:spcAft>
              <a:buFont typeface="Arial" panose="020B0604020202020204" pitchFamily="34" charset="0"/>
              <a:buChar char="•"/>
              <a:defRPr sz="1019">
                <a:solidFill>
                  <a:srgbClr val="161F2F"/>
                </a:solidFill>
                <a:latin typeface="Arial"/>
              </a:defRPr>
            </a:pPr>
            <a:r>
              <a:rPr dirty="0"/>
              <a:t>FinOps </a:t>
            </a:r>
            <a:r>
              <a:rPr dirty="0" err="1"/>
              <a:t>incorporado</a:t>
            </a:r>
            <a:r>
              <a:rPr dirty="0"/>
              <a:t> à </a:t>
            </a:r>
            <a:r>
              <a:rPr dirty="0" err="1"/>
              <a:t>governança</a:t>
            </a:r>
            <a:endParaRPr dirty="0"/>
          </a:p>
          <a:p>
            <a:pPr marL="171450" indent="-171450">
              <a:spcAft>
                <a:spcPts val="100"/>
              </a:spcAft>
              <a:buFont typeface="Arial" panose="020B0604020202020204" pitchFamily="34" charset="0"/>
              <a:buChar char="•"/>
              <a:defRPr sz="1019">
                <a:solidFill>
                  <a:srgbClr val="161F2F"/>
                </a:solidFill>
                <a:latin typeface="Arial"/>
              </a:defRPr>
            </a:pPr>
            <a:r>
              <a:rPr lang="pt-BR" sz="1019" dirty="0">
                <a:solidFill>
                  <a:srgbClr val="161F2F"/>
                </a:solidFill>
                <a:latin typeface="Arial"/>
              </a:rPr>
              <a:t>IA incorporada ao fluxo ponta a ponta</a:t>
            </a:r>
            <a:endParaRPr dirty="0"/>
          </a:p>
        </p:txBody>
      </p:sp>
      <p:sp>
        <p:nvSpPr>
          <p:cNvPr id="61" name="statement"/>
          <p:cNvSpPr/>
          <p:nvPr/>
        </p:nvSpPr>
        <p:spPr>
          <a:xfrm>
            <a:off x="320040" y="7635240"/>
            <a:ext cx="12161520" cy="749808"/>
          </a:xfrm>
          <a:prstGeom prst="roundRect">
            <a:avLst/>
          </a:prstGeom>
          <a:solidFill>
            <a:srgbClr val="081F3D"/>
          </a:solidFill>
          <a:ln w="12700">
            <a:solidFill>
              <a:srgbClr val="0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7724359"/>
            <a:ext cx="11704320" cy="480131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dirty="0" err="1">
                <a:solidFill>
                  <a:srgbClr val="FFFFFF"/>
                </a:solidFill>
                <a:latin typeface="Arial"/>
              </a:rPr>
              <a:t>Mensagem</a:t>
            </a:r>
            <a:r>
              <a:rPr sz="1200" dirty="0">
                <a:solidFill>
                  <a:srgbClr val="FFFFFF"/>
                </a:solidFill>
                <a:latin typeface="Arial"/>
              </a:rPr>
              <a:t> central:</a:t>
            </a:r>
            <a:endParaRPr lang="pt-BR" sz="1200" dirty="0">
              <a:solidFill>
                <a:srgbClr val="FFFFFF"/>
              </a:solidFill>
              <a:latin typeface="Arial"/>
            </a:endParaRPr>
          </a:p>
          <a:p>
            <a:pPr algn="ctr"/>
            <a:r>
              <a:rPr lang="pt-BR" sz="1200" dirty="0">
                <a:solidFill>
                  <a:schemeClr val="bg1"/>
                </a:solidFill>
                <a:latin typeface="Arial"/>
              </a:rPr>
              <a:t>Meu papel é dar clareza, proteger a capacidade e criar condições para o </a:t>
            </a:r>
            <a:r>
              <a:rPr lang="pt-BR" sz="1200" b="1" dirty="0">
                <a:solidFill>
                  <a:schemeClr val="bg1"/>
                </a:solidFill>
                <a:latin typeface="Arial"/>
              </a:rPr>
              <a:t>time assumir </a:t>
            </a:r>
            <a:r>
              <a:rPr lang="pt-BR" sz="1200" dirty="0">
                <a:solidFill>
                  <a:schemeClr val="bg1"/>
                </a:solidFill>
                <a:latin typeface="Arial"/>
              </a:rPr>
              <a:t>cada vez mais decisões</a:t>
            </a:r>
            <a:endParaRPr sz="1200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521440" y="8833104"/>
            <a:ext cx="1005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800" b="0">
                <a:solidFill>
                  <a:srgbClr val="5C6978"/>
                </a:solidFill>
                <a:latin typeface="Arial"/>
              </a:rPr>
              <a:t>2</a:t>
            </a:r>
          </a:p>
        </p:txBody>
      </p:sp>
      <p:sp>
        <p:nvSpPr>
          <p:cNvPr id="66" name="subtitle">
            <a:extLst>
              <a:ext uri="{FF2B5EF4-FFF2-40B4-BE49-F238E27FC236}">
                <a16:creationId xmlns:a16="http://schemas.microsoft.com/office/drawing/2014/main" id="{C0F02FF0-D897-E9B2-6B5D-88ACE77EB0A4}"/>
              </a:ext>
            </a:extLst>
          </p:cNvPr>
          <p:cNvSpPr txBox="1"/>
          <p:nvPr/>
        </p:nvSpPr>
        <p:spPr>
          <a:xfrm>
            <a:off x="6263640" y="2670048"/>
            <a:ext cx="11704320" cy="28777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pt-BR" sz="1150" b="0" dirty="0">
                <a:solidFill>
                  <a:srgbClr val="5C6978"/>
                </a:solidFill>
                <a:latin typeface="Arial"/>
              </a:rPr>
              <a:t>Os papéis indicam quem lidera a mobilização da frente, sem concentrar decisões ou execução</a:t>
            </a:r>
            <a:endParaRPr sz="1150" b="0" dirty="0">
              <a:solidFill>
                <a:srgbClr val="5C697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929616" cy="73152"/>
          </a:xfrm>
          <a:prstGeom prst="rect">
            <a:avLst/>
          </a:prstGeom>
          <a:solidFill>
            <a:srgbClr val="F16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19456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800" b="1">
                <a:solidFill>
                  <a:srgbClr val="5D6B7A"/>
                </a:solidFill>
                <a:latin typeface="Arial"/>
              </a:defRPr>
            </a:pPr>
            <a:r>
              <a:t>PROCESSO SELETIVO | RT PRODOPS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12064"/>
            <a:ext cx="117043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Arial"/>
              </a:defRPr>
            </a:pPr>
            <a:r>
              <a:t>Evidências concretas da minha atuação atual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32688"/>
            <a:ext cx="1179576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960" b="0">
                <a:solidFill>
                  <a:srgbClr val="5D6B7A"/>
                </a:solidFill>
                <a:latin typeface="Arial"/>
              </a:defRPr>
            </a:pPr>
            <a:r>
              <a:t>Exemplos selecionados para mostrar comportamentos que já pratico como Tech Lead e que pretendo ampliar como Coordenador.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61872"/>
            <a:ext cx="12298680" cy="704088"/>
          </a:xfrm>
          <a:prstGeom prst="roundRect">
            <a:avLst/>
          </a:prstGeom>
          <a:solidFill>
            <a:srgbClr val="EAF3FC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869" b="1">
                <a:solidFill>
                  <a:srgbClr val="0B1F3A"/>
                </a:solidFill>
                <a:latin typeface="Arial"/>
              </a:defRPr>
            </a:pPr>
            <a:r>
              <a:rPr dirty="0"/>
              <a:t>Minha </a:t>
            </a:r>
            <a:r>
              <a:rPr dirty="0" err="1"/>
              <a:t>evolução</a:t>
            </a:r>
            <a:r>
              <a:rPr dirty="0"/>
              <a:t> de </a:t>
            </a:r>
            <a:r>
              <a:rPr dirty="0" err="1"/>
              <a:t>atuação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2103120" y="1554480"/>
            <a:ext cx="1261872" cy="256032"/>
          </a:xfrm>
          <a:prstGeom prst="roundRect">
            <a:avLst/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03120" y="1559052"/>
            <a:ext cx="12618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Organizo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1554480"/>
            <a:ext cx="20116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7872" y="1554480"/>
            <a:ext cx="1261872" cy="256032"/>
          </a:xfrm>
          <a:prstGeom prst="roundRect">
            <a:avLst/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2" y="1559052"/>
            <a:ext cx="12618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Direciono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1554480"/>
            <a:ext cx="20116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2624" y="1554480"/>
            <a:ext cx="1261872" cy="256032"/>
          </a:xfrm>
          <a:prstGeom prst="roundRect">
            <a:avLst/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92624" y="1559052"/>
            <a:ext cx="12618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Desenvolvo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554480"/>
            <a:ext cx="20116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1554480"/>
            <a:ext cx="1261872" cy="256032"/>
          </a:xfrm>
          <a:prstGeom prst="roundRect">
            <a:avLst/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37376" y="1559052"/>
            <a:ext cx="12618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Delego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7264" y="1554480"/>
            <a:ext cx="20116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8" y="1554480"/>
            <a:ext cx="1261872" cy="256032"/>
          </a:xfrm>
          <a:prstGeom prst="roundRect">
            <a:avLst/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82128" y="1559052"/>
            <a:ext cx="12618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Acompanho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6" y="1554480"/>
            <a:ext cx="20116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1554480"/>
            <a:ext cx="1261872" cy="256032"/>
          </a:xfrm>
          <a:prstGeom prst="roundRect">
            <a:avLst/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0" y="1559052"/>
            <a:ext cx="12618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Autonomia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194560"/>
            <a:ext cx="64008" cy="1920240"/>
          </a:xfrm>
          <a:prstGeom prst="rect">
            <a:avLst/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56615" y="2194560"/>
            <a:ext cx="3758184" cy="1920240"/>
          </a:xfrm>
          <a:prstGeom prst="roundRect">
            <a:avLst/>
          </a:prstGeom>
          <a:solidFill>
            <a:srgbClr val="EAF3FC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" y="2286000"/>
            <a:ext cx="3483864" cy="237744"/>
          </a:xfrm>
          <a:prstGeom prst="rect">
            <a:avLst/>
          </a:prstGeom>
          <a:noFill/>
        </p:spPr>
        <p:txBody>
          <a:bodyPr wrap="square" lIns="9144" tIns="9144" rIns="9144" bIns="9144" anchor="t">
            <a:normAutofit/>
          </a:bodyPr>
          <a:lstStyle/>
          <a:p>
            <a:pPr algn="l">
              <a:defRPr sz="1120" b="1">
                <a:solidFill>
                  <a:srgbClr val="0B1F3A"/>
                </a:solidFill>
                <a:latin typeface="Arial"/>
              </a:defRPr>
            </a:pPr>
            <a:r>
              <a:t>1. Squad: ownership e autonomia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6700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267462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Cenário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" y="2651760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Capacidade reduzida, prioridades concorrentes, dependências e acompanhamento próximo.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1272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13182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" y="3108960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Rotacionei assuntos entre membros, criei donos por demanda e apoiei tecnicamente nos gaps.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5844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358902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Evid.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" y="3566160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Mais autonomia, senso de pertencimento e evolução da previsibilidade percebida pela gestão.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70832" y="2194560"/>
            <a:ext cx="64008" cy="1920240"/>
          </a:xfrm>
          <a:prstGeom prst="rect">
            <a:avLst/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407408" y="2194560"/>
            <a:ext cx="3758184" cy="1920240"/>
          </a:xfrm>
          <a:prstGeom prst="roundRect">
            <a:avLst/>
          </a:prstGeom>
          <a:solidFill>
            <a:srgbClr val="FFF0E3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35424" y="2286000"/>
            <a:ext cx="3483864" cy="237744"/>
          </a:xfrm>
          <a:prstGeom prst="rect">
            <a:avLst/>
          </a:prstGeom>
          <a:noFill/>
        </p:spPr>
        <p:txBody>
          <a:bodyPr wrap="square" lIns="9144" tIns="9144" rIns="9144" bIns="9144" anchor="t">
            <a:normAutofit/>
          </a:bodyPr>
          <a:lstStyle/>
          <a:p>
            <a:pPr algn="l">
              <a:defRPr sz="1120" b="1">
                <a:solidFill>
                  <a:srgbClr val="0B1F3A"/>
                </a:solidFill>
                <a:latin typeface="Arial"/>
              </a:defRPr>
            </a:pPr>
            <a:r>
              <a:t>2. Performance e conversas difíceis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53712" y="26700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53712" y="267462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Cenário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2651760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Clima e performance passaram a impactar a Squad e as entregas.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53712" y="31272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53712" y="313182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Ação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3108960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rPr dirty="0" err="1"/>
              <a:t>Aprendi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adiar</a:t>
            </a:r>
            <a:r>
              <a:rPr dirty="0"/>
              <a:t> feedback </a:t>
            </a:r>
            <a:r>
              <a:rPr dirty="0" err="1"/>
              <a:t>aumenta</a:t>
            </a:r>
            <a:r>
              <a:rPr dirty="0"/>
              <a:t> </a:t>
            </a:r>
            <a:r>
              <a:rPr dirty="0" err="1"/>
              <a:t>custo</a:t>
            </a:r>
            <a:r>
              <a:rPr dirty="0"/>
              <a:t>; </a:t>
            </a:r>
            <a:r>
              <a:rPr dirty="0" err="1"/>
              <a:t>hoje</a:t>
            </a:r>
            <a:r>
              <a:rPr dirty="0"/>
              <a:t> </a:t>
            </a:r>
            <a:r>
              <a:rPr dirty="0" err="1"/>
              <a:t>atuo</a:t>
            </a:r>
            <a:r>
              <a:rPr dirty="0"/>
              <a:t> antes, com </a:t>
            </a:r>
            <a:r>
              <a:rPr dirty="0" err="1"/>
              <a:t>transparência</a:t>
            </a:r>
            <a:r>
              <a:rPr lang="pt-BR" dirty="0"/>
              <a:t>, agilidade</a:t>
            </a:r>
            <a:r>
              <a:rPr dirty="0"/>
              <a:t> e </a:t>
            </a:r>
            <a:r>
              <a:rPr dirty="0" err="1"/>
              <a:t>contexto</a:t>
            </a:r>
            <a:r>
              <a:rPr dirty="0"/>
              <a:t>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53712" y="35844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53712" y="358902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Evid.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0" y="3566160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Aprendizado gerencial: proteger o coletivo exige conversas difíceis no tempo certo.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21624" y="2194560"/>
            <a:ext cx="64008" cy="1920240"/>
          </a:xfrm>
          <a:prstGeom prst="rect">
            <a:avLst/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458200" y="2194560"/>
            <a:ext cx="3758184" cy="1920240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86216" y="2286000"/>
            <a:ext cx="3483864" cy="237744"/>
          </a:xfrm>
          <a:prstGeom prst="rect">
            <a:avLst/>
          </a:prstGeom>
          <a:noFill/>
        </p:spPr>
        <p:txBody>
          <a:bodyPr wrap="square" lIns="9144" tIns="9144" rIns="9144" bIns="9144" anchor="t">
            <a:normAutofit/>
          </a:bodyPr>
          <a:lstStyle/>
          <a:p>
            <a:pPr algn="l">
              <a:defRPr sz="1120" b="1">
                <a:solidFill>
                  <a:srgbClr val="0B1F3A"/>
                </a:solidFill>
                <a:latin typeface="Arial"/>
              </a:defRPr>
            </a:pPr>
            <a:r>
              <a:t>3. Sucessão, owners e backups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04504" y="26700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604504" y="267462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Cenário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62872" y="2651760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Conhecimento e decisões ainda concentrados em algumas pessoas-chave.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04504" y="31272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604504" y="313182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Ação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62872" y="3108960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Deleguei frentes, dei espaço para potenciais sucessores e acompanhei comunicação, visão e urgência.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04504" y="35844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604504" y="358902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Evid.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62872" y="3566160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Liderança mais distribuída e redução gradual da dependência do Tech Lead.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4370832"/>
            <a:ext cx="64008" cy="1920240"/>
          </a:xfrm>
          <a:prstGeom prst="rect">
            <a:avLst/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356615" y="4370832"/>
            <a:ext cx="3758184" cy="1920240"/>
          </a:xfrm>
          <a:prstGeom prst="roundRect">
            <a:avLst/>
          </a:prstGeom>
          <a:solidFill>
            <a:srgbClr val="EAF3FC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84632" y="4462272"/>
            <a:ext cx="3483864" cy="237744"/>
          </a:xfrm>
          <a:prstGeom prst="rect">
            <a:avLst/>
          </a:prstGeom>
          <a:noFill/>
        </p:spPr>
        <p:txBody>
          <a:bodyPr wrap="square" lIns="9144" tIns="9144" rIns="9144" bIns="9144" anchor="t">
            <a:normAutofit/>
          </a:bodyPr>
          <a:lstStyle/>
          <a:p>
            <a:pPr algn="l">
              <a:defRPr sz="1120" b="1">
                <a:solidFill>
                  <a:srgbClr val="0B1F3A"/>
                </a:solidFill>
                <a:latin typeface="Arial"/>
              </a:defRPr>
            </a:pPr>
            <a:r>
              <a:t>4. IA aplicada ao trabalho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2920" y="48463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02920" y="4850892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Cenário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61288" y="4828032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Adoção desigual de IA: muitos low users e resistência inicial ao uso prático.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02920" y="53035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02920" y="5308092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Ação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61288" y="5285232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rPr dirty="0" err="1"/>
              <a:t>Conectei</a:t>
            </a:r>
            <a:r>
              <a:rPr dirty="0"/>
              <a:t> </a:t>
            </a:r>
            <a:r>
              <a:rPr lang="pt-BR" dirty="0" err="1"/>
              <a:t>Git</a:t>
            </a:r>
            <a:r>
              <a:rPr lang="pt-BR" dirty="0"/>
              <a:t> </a:t>
            </a:r>
            <a:r>
              <a:rPr dirty="0"/>
              <a:t>Copilot, </a:t>
            </a:r>
            <a:r>
              <a:rPr lang="pt-BR" dirty="0"/>
              <a:t>M356, </a:t>
            </a:r>
            <a:r>
              <a:rPr dirty="0"/>
              <a:t>Devin, Claude, BMAD/HIVE e AI-DLC a </a:t>
            </a:r>
            <a:r>
              <a:rPr dirty="0" err="1"/>
              <a:t>problemas</a:t>
            </a:r>
            <a:r>
              <a:rPr dirty="0"/>
              <a:t> reais de delivery.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2920" y="57607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02920" y="5765292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Evid.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61288" y="5742432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Evolução para mais heavy users quando o valor da IA fica concreto no fluxo de trabalho.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70832" y="4370832"/>
            <a:ext cx="64008" cy="1920240"/>
          </a:xfrm>
          <a:prstGeom prst="rect">
            <a:avLst/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4407408" y="4370832"/>
            <a:ext cx="3758184" cy="1920240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535424" y="4462272"/>
            <a:ext cx="3483864" cy="237744"/>
          </a:xfrm>
          <a:prstGeom prst="rect">
            <a:avLst/>
          </a:prstGeom>
          <a:noFill/>
        </p:spPr>
        <p:txBody>
          <a:bodyPr wrap="square" lIns="9144" tIns="9144" rIns="9144" bIns="9144" anchor="t">
            <a:normAutofit/>
          </a:bodyPr>
          <a:lstStyle/>
          <a:p>
            <a:pPr algn="l">
              <a:defRPr sz="1120" b="1">
                <a:solidFill>
                  <a:srgbClr val="0B1F3A"/>
                </a:solidFill>
                <a:latin typeface="Arial"/>
              </a:defRPr>
            </a:pPr>
            <a:r>
              <a:t>5. Capacidade, MVPs e renúncia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53712" y="48463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553712" y="4850892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Cenário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12080" y="4828032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Demandas concorrentes, pressão por entrega e capacidade limitada.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53712" y="53035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553712" y="5308092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Ação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12080" y="5285232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rPr dirty="0" err="1"/>
              <a:t>Quebrei</a:t>
            </a:r>
            <a:r>
              <a:rPr dirty="0"/>
              <a:t> Markit</a:t>
            </a:r>
            <a:r>
              <a:rPr lang="pt-BR" dirty="0"/>
              <a:t> </a:t>
            </a:r>
            <a:r>
              <a:rPr dirty="0"/>
              <a:t>/</a:t>
            </a:r>
            <a:r>
              <a:rPr lang="pt-BR" dirty="0"/>
              <a:t> </a:t>
            </a:r>
            <a:r>
              <a:rPr dirty="0"/>
              <a:t>Confirmation</a:t>
            </a:r>
            <a:r>
              <a:rPr lang="pt-BR" dirty="0"/>
              <a:t> / BDC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MVPs, </a:t>
            </a:r>
            <a:r>
              <a:rPr dirty="0" err="1"/>
              <a:t>explicitando</a:t>
            </a:r>
            <a:r>
              <a:rPr dirty="0"/>
              <a:t> trade-offs para </a:t>
            </a:r>
            <a:r>
              <a:rPr dirty="0" err="1"/>
              <a:t>entregar</a:t>
            </a:r>
            <a:r>
              <a:rPr dirty="0"/>
              <a:t> valor </a:t>
            </a:r>
            <a:r>
              <a:rPr dirty="0" err="1"/>
              <a:t>tático</a:t>
            </a:r>
            <a:r>
              <a:rPr dirty="0"/>
              <a:t>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553712" y="57607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553712" y="5765292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Evid.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12080" y="5742432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O negócio recebe benefícios antes; os MVPs seguintes reduzem risco e endereçam ajustes.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421624" y="4370832"/>
            <a:ext cx="3794760" cy="1920240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604504" y="4480560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019" b="1">
                <a:solidFill>
                  <a:srgbClr val="0B1F3A"/>
                </a:solidFill>
                <a:latin typeface="Arial"/>
              </a:defRPr>
            </a:pPr>
            <a:r>
              <a:t>Ao final de 180 dias, o time deve decidir sem mim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95944" y="4828032"/>
            <a:ext cx="3291840" cy="1280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819" b="0">
                <a:solidFill>
                  <a:srgbClr val="1D2939"/>
                </a:solidFill>
                <a:latin typeface="Arial"/>
              </a:defRPr>
            </a:pPr>
            <a:r>
              <a:t>• priorizar incidentes pelos critérios definidos;</a:t>
            </a:r>
            <a:br/>
            <a:r>
              <a:t>• negociar capacidade e trade-offs com contexto;</a:t>
            </a:r>
            <a:br/>
            <a:r>
              <a:t>• conduzir experimentos de IA com métrica;</a:t>
            </a:r>
            <a:br/>
            <a:r>
              <a:t>• propor caminhos técnicos dentro do roadmap;</a:t>
            </a:r>
            <a:br/>
            <a:r>
              <a:t>• escalar só prioridade, risco, orçamento ou conflito entre áreas.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20040" y="6693408"/>
            <a:ext cx="12298680" cy="70408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02920" y="6793992"/>
            <a:ext cx="1193292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200" dirty="0" err="1"/>
              <a:t>Mensagem</a:t>
            </a:r>
            <a:r>
              <a:rPr sz="1200" dirty="0"/>
              <a:t> central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8932" y="7066788"/>
            <a:ext cx="1156716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10000"/>
          </a:bodyPr>
          <a:lstStyle/>
          <a:p>
            <a:pPr algn="ctr">
              <a:defRPr sz="869" b="0">
                <a:solidFill>
                  <a:srgbClr val="FFFFFF"/>
                </a:solidFill>
                <a:latin typeface="Arial"/>
              </a:defRPr>
            </a:pPr>
            <a:r>
              <a:rPr sz="1300" dirty="0"/>
              <a:t>O </a:t>
            </a:r>
            <a:r>
              <a:rPr sz="1300" dirty="0" err="1"/>
              <a:t>objetivo</a:t>
            </a:r>
            <a:r>
              <a:rPr sz="1300" dirty="0"/>
              <a:t> é o time </a:t>
            </a:r>
            <a:r>
              <a:rPr sz="1300" dirty="0" err="1"/>
              <a:t>funcionar</a:t>
            </a:r>
            <a:r>
              <a:rPr sz="1300" dirty="0"/>
              <a:t> </a:t>
            </a:r>
            <a:r>
              <a:rPr sz="1300" dirty="0" err="1"/>
              <a:t>melhor</a:t>
            </a:r>
            <a:r>
              <a:rPr sz="1300" dirty="0"/>
              <a:t> com </a:t>
            </a:r>
            <a:r>
              <a:rPr sz="1300" b="1" dirty="0" err="1">
                <a:solidFill>
                  <a:srgbClr val="FFFFFF"/>
                </a:solidFill>
                <a:latin typeface="Arial"/>
              </a:rPr>
              <a:t>menos</a:t>
            </a:r>
            <a:r>
              <a:rPr sz="1300" dirty="0"/>
              <a:t> </a:t>
            </a:r>
            <a:r>
              <a:rPr sz="1300" b="1" dirty="0" err="1"/>
              <a:t>dependência</a:t>
            </a:r>
            <a:r>
              <a:rPr sz="1300" dirty="0"/>
              <a:t> da </a:t>
            </a:r>
            <a:r>
              <a:rPr sz="1300" dirty="0" err="1"/>
              <a:t>minha</a:t>
            </a:r>
            <a:r>
              <a:rPr sz="1300" dirty="0"/>
              <a:t> </a:t>
            </a:r>
            <a:r>
              <a:rPr sz="1300" dirty="0" err="1"/>
              <a:t>atuação</a:t>
            </a:r>
            <a:r>
              <a:rPr sz="1300" dirty="0"/>
              <a:t> </a:t>
            </a:r>
            <a:r>
              <a:rPr sz="1300" dirty="0" err="1"/>
              <a:t>direta</a:t>
            </a:r>
            <a:r>
              <a:rPr sz="1300" dirty="0"/>
              <a:t>.</a:t>
            </a:r>
            <a:endParaRPr lang="pt-BR" sz="1300" dirty="0"/>
          </a:p>
          <a:p>
            <a:pPr algn="ctr">
              <a:defRPr sz="869" b="0">
                <a:solidFill>
                  <a:srgbClr val="FFFFFF"/>
                </a:solidFill>
                <a:latin typeface="Arial"/>
              </a:defRPr>
            </a:pPr>
            <a:endParaRPr lang="pt-BR" dirty="0"/>
          </a:p>
          <a:p>
            <a:pPr algn="ctr">
              <a:defRPr sz="869" b="0">
                <a:solidFill>
                  <a:srgbClr val="FFFFFF"/>
                </a:solidFill>
                <a:latin typeface="Arial"/>
              </a:defRPr>
            </a:pPr>
            <a:endParaRPr dirty="0"/>
          </a:p>
        </p:txBody>
      </p:sp>
      <p:sp>
        <p:nvSpPr>
          <p:cNvPr id="94" name="Rectangle 93"/>
          <p:cNvSpPr/>
          <p:nvPr/>
        </p:nvSpPr>
        <p:spPr>
          <a:xfrm>
            <a:off x="333756" y="7670292"/>
            <a:ext cx="12298680" cy="9144"/>
          </a:xfrm>
          <a:prstGeom prst="rect">
            <a:avLst/>
          </a:prstGeom>
          <a:solidFill>
            <a:srgbClr val="CFD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2298680" y="8759952"/>
            <a:ext cx="228600" cy="1097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defRPr sz="650" b="0">
                <a:solidFill>
                  <a:srgbClr val="5D6B7A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</TotalTime>
  <Words>1510</Words>
  <Application>Microsoft Office PowerPoint</Application>
  <PresentationFormat>Personalizar</PresentationFormat>
  <Paragraphs>264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Segoe UI Symbol</vt:lpstr>
      <vt:lpstr>Office Theme</vt:lpstr>
      <vt:lpstr>Apresentação do PowerPoint</vt:lpstr>
      <vt:lpstr>Apresentação do PowerPoint</vt:lpstr>
      <vt:lpstr>Apresentação do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Transformação da Plataforma Muroa em 180 dias</dc:title>
  <dc:subject>One-page editável - Transformação da Plataforma Muroa em 180 dias</dc:subject>
  <dc:creator>OpenAI</dc:creator>
  <cp:lastModifiedBy>Paulo Sato</cp:lastModifiedBy>
  <cp:revision>2</cp:revision>
  <dcterms:created xsi:type="dcterms:W3CDTF">2026-09-19T15:20:53Z</dcterms:created>
  <dcterms:modified xsi:type="dcterms:W3CDTF">2026-09-22T12:15:42Z</dcterms:modified>
</cp:coreProperties>
</file>