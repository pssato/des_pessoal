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930188" cy="9144000"/>
  <p:notesSz cx="9144000" cy="129301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180C01-39D0-45CC-B124-BF5AE73ACB9D}" v="25" dt="2026-09-20T20:52:46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2742" y="-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Sato" userId="8b5cd5a1ab362708" providerId="LiveId" clId="{01AD31F9-EEE6-45DA-9FDB-9153E52E6986}"/>
    <pc:docChg chg="undo redo custSel addSld modSld">
      <pc:chgData name="Paulo Sato" userId="8b5cd5a1ab362708" providerId="LiveId" clId="{01AD31F9-EEE6-45DA-9FDB-9153E52E6986}" dt="2026-09-20T20:53:41.472" v="333" actId="20577"/>
      <pc:docMkLst>
        <pc:docMk/>
      </pc:docMkLst>
      <pc:sldChg chg="addSp delSp modSp mod">
        <pc:chgData name="Paulo Sato" userId="8b5cd5a1ab362708" providerId="LiveId" clId="{01AD31F9-EEE6-45DA-9FDB-9153E52E6986}" dt="2026-09-20T20:53:41.472" v="333" actId="20577"/>
        <pc:sldMkLst>
          <pc:docMk/>
          <pc:sldMk cId="0" sldId="256"/>
        </pc:sldMkLst>
        <pc:spChg chg="mod">
          <ac:chgData name="Paulo Sato" userId="8b5cd5a1ab362708" providerId="LiveId" clId="{01AD31F9-EEE6-45DA-9FDB-9153E52E6986}" dt="2026-09-20T20:13:32.239" v="20" actId="2763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ulo Sato" userId="8b5cd5a1ab362708" providerId="LiveId" clId="{01AD31F9-EEE6-45DA-9FDB-9153E52E6986}" dt="2026-09-20T20:44:53.840" v="30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aulo Sato" userId="8b5cd5a1ab362708" providerId="LiveId" clId="{01AD31F9-EEE6-45DA-9FDB-9153E52E6986}" dt="2026-09-20T20:53:41.472" v="333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Paulo Sato" userId="8b5cd5a1ab362708" providerId="LiveId" clId="{01AD31F9-EEE6-45DA-9FDB-9153E52E6986}" dt="2026-09-20T20:53:03.529" v="325" actId="108"/>
          <ac:spMkLst>
            <pc:docMk/>
            <pc:sldMk cId="0" sldId="256"/>
            <ac:spMk id="18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7:57.364" v="286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6:23.460" v="255" actId="108"/>
          <ac:spMkLst>
            <pc:docMk/>
            <pc:sldMk cId="0" sldId="256"/>
            <ac:spMk id="42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3:32.199" v="19" actId="2763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3:32.199" v="18" actId="27636"/>
          <ac:spMkLst>
            <pc:docMk/>
            <pc:sldMk cId="0" sldId="256"/>
            <ac:spMk id="81" creationId="{00000000-0000-0000-0000-000000000000}"/>
          </ac:spMkLst>
        </pc:spChg>
        <pc:spChg chg="del">
          <ac:chgData name="Paulo Sato" userId="8b5cd5a1ab362708" providerId="LiveId" clId="{01AD31F9-EEE6-45DA-9FDB-9153E52E6986}" dt="2026-09-20T20:13:00.716" v="0" actId="478"/>
          <ac:spMkLst>
            <pc:docMk/>
            <pc:sldMk cId="0" sldId="256"/>
            <ac:spMk id="90" creationId="{00000000-0000-0000-0000-000000000000}"/>
          </ac:spMkLst>
        </pc:spChg>
        <pc:spChg chg="add mod">
          <ac:chgData name="Paulo Sato" userId="8b5cd5a1ab362708" providerId="LiveId" clId="{01AD31F9-EEE6-45DA-9FDB-9153E52E6986}" dt="2026-09-20T20:32:41.952" v="212" actId="1076"/>
          <ac:spMkLst>
            <pc:docMk/>
            <pc:sldMk cId="0" sldId="256"/>
            <ac:spMk id="94" creationId="{6CF8391F-E8B7-22D7-EC8B-7DD6B68652A5}"/>
          </ac:spMkLst>
        </pc:spChg>
      </pc:sldChg>
      <pc:sldChg chg="addSp delSp modSp mod">
        <pc:chgData name="Paulo Sato" userId="8b5cd5a1ab362708" providerId="LiveId" clId="{01AD31F9-EEE6-45DA-9FDB-9153E52E6986}" dt="2026-09-20T20:32:17.495" v="210" actId="1076"/>
        <pc:sldMkLst>
          <pc:docMk/>
          <pc:sldMk cId="0" sldId="257"/>
        </pc:sldMkLst>
        <pc:spChg chg="mod">
          <ac:chgData name="Paulo Sato" userId="8b5cd5a1ab362708" providerId="LiveId" clId="{01AD31F9-EEE6-45DA-9FDB-9153E52E6986}" dt="2026-09-20T20:25:42.167" v="115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8:14.162" v="64" actId="2057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3:32.121" v="17"/>
          <ac:spMkLst>
            <pc:docMk/>
            <pc:sldMk cId="0" sldId="257"/>
            <ac:spMk id="39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9:41.589" v="81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5:53.684" v="3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6:08.328" v="47" actId="20577"/>
          <ac:spMkLst>
            <pc:docMk/>
            <pc:sldMk cId="0" sldId="257"/>
            <ac:spMk id="51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5:13.582" v="35" actId="20577"/>
          <ac:spMkLst>
            <pc:docMk/>
            <pc:sldMk cId="0" sldId="257"/>
            <ac:spMk id="52" creationId="{00000000-0000-0000-0000-000000000000}"/>
          </ac:spMkLst>
        </pc:spChg>
        <pc:spChg chg="mod">
          <ac:chgData name="Paulo Sato" userId="8b5cd5a1ab362708" providerId="LiveId" clId="{01AD31F9-EEE6-45DA-9FDB-9153E52E6986}" dt="2026-09-20T20:16:45.249" v="56"/>
          <ac:spMkLst>
            <pc:docMk/>
            <pc:sldMk cId="0" sldId="257"/>
            <ac:spMk id="55" creationId="{00000000-0000-0000-0000-000000000000}"/>
          </ac:spMkLst>
        </pc:spChg>
        <pc:spChg chg="mod">
          <ac:chgData name="Paulo Sato" userId="8b5cd5a1ab362708" providerId="LiveId" clId="{01AD31F9-EEE6-45DA-9FDB-9153E52E6986}" dt="2026-09-20T20:25:01.864" v="105" actId="6549"/>
          <ac:spMkLst>
            <pc:docMk/>
            <pc:sldMk cId="0" sldId="257"/>
            <ac:spMk id="58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0:51.371" v="190" actId="403"/>
          <ac:spMkLst>
            <pc:docMk/>
            <pc:sldMk cId="0" sldId="257"/>
            <ac:spMk id="62" creationId="{00000000-0000-0000-0000-000000000000}"/>
          </ac:spMkLst>
        </pc:spChg>
        <pc:spChg chg="add mod">
          <ac:chgData name="Paulo Sato" userId="8b5cd5a1ab362708" providerId="LiveId" clId="{01AD31F9-EEE6-45DA-9FDB-9153E52E6986}" dt="2026-09-20T20:32:17.495" v="210" actId="1076"/>
          <ac:spMkLst>
            <pc:docMk/>
            <pc:sldMk cId="0" sldId="257"/>
            <ac:spMk id="70" creationId="{4AD05792-42DD-4FD8-0F33-EDE138B239D9}"/>
          </ac:spMkLst>
        </pc:spChg>
        <pc:grpChg chg="mod">
          <ac:chgData name="Paulo Sato" userId="8b5cd5a1ab362708" providerId="LiveId" clId="{01AD31F9-EEE6-45DA-9FDB-9153E52E6986}" dt="2026-09-20T20:19:37.888" v="77"/>
          <ac:grpSpMkLst>
            <pc:docMk/>
            <pc:sldMk cId="0" sldId="257"/>
            <ac:grpSpMk id="69" creationId="{27F8F9DB-FE3E-8C4F-F34E-FA9D09E313A3}"/>
          </ac:grpSpMkLst>
        </pc:grpChg>
        <pc:inkChg chg="add del mod">
          <ac:chgData name="Paulo Sato" userId="8b5cd5a1ab362708" providerId="LiveId" clId="{01AD31F9-EEE6-45DA-9FDB-9153E52E6986}" dt="2026-09-20T20:19:38.282" v="79" actId="9405"/>
          <ac:inkMkLst>
            <pc:docMk/>
            <pc:sldMk cId="0" sldId="257"/>
            <ac:inkMk id="64" creationId="{05331BC0-C078-BB7C-1AFE-652B363B49CF}"/>
          </ac:inkMkLst>
        </pc:inkChg>
        <pc:inkChg chg="add del mod">
          <ac:chgData name="Paulo Sato" userId="8b5cd5a1ab362708" providerId="LiveId" clId="{01AD31F9-EEE6-45DA-9FDB-9153E52E6986}" dt="2026-09-20T20:19:38.078" v="78" actId="9405"/>
          <ac:inkMkLst>
            <pc:docMk/>
            <pc:sldMk cId="0" sldId="257"/>
            <ac:inkMk id="65" creationId="{1336C215-5F4C-CA79-2FB6-C5D0BF7E4ACD}"/>
          </ac:inkMkLst>
        </pc:inkChg>
        <pc:inkChg chg="add del mod">
          <ac:chgData name="Paulo Sato" userId="8b5cd5a1ab362708" providerId="LiveId" clId="{01AD31F9-EEE6-45DA-9FDB-9153E52E6986}" dt="2026-09-20T20:19:37.888" v="77"/>
          <ac:inkMkLst>
            <pc:docMk/>
            <pc:sldMk cId="0" sldId="257"/>
            <ac:inkMk id="66" creationId="{E2124AAB-A0A8-DA4D-8BAF-F426484AFF2F}"/>
          </ac:inkMkLst>
        </pc:inkChg>
        <pc:inkChg chg="add del">
          <ac:chgData name="Paulo Sato" userId="8b5cd5a1ab362708" providerId="LiveId" clId="{01AD31F9-EEE6-45DA-9FDB-9153E52E6986}" dt="2026-09-20T20:19:37.716" v="74" actId="9405"/>
          <ac:inkMkLst>
            <pc:docMk/>
            <pc:sldMk cId="0" sldId="257"/>
            <ac:inkMk id="67" creationId="{DA62B508-404F-0417-F0E5-2A2ACEF40538}"/>
          </ac:inkMkLst>
        </pc:inkChg>
        <pc:inkChg chg="add del">
          <ac:chgData name="Paulo Sato" userId="8b5cd5a1ab362708" providerId="LiveId" clId="{01AD31F9-EEE6-45DA-9FDB-9153E52E6986}" dt="2026-09-20T20:19:37.547" v="73" actId="9405"/>
          <ac:inkMkLst>
            <pc:docMk/>
            <pc:sldMk cId="0" sldId="257"/>
            <ac:inkMk id="68" creationId="{AB120DF8-9BE8-4DDD-1DE8-3911C81D1EBF}"/>
          </ac:inkMkLst>
        </pc:inkChg>
      </pc:sldChg>
      <pc:sldChg chg="addSp delSp modSp mod setBg">
        <pc:chgData name="Paulo Sato" userId="8b5cd5a1ab362708" providerId="LiveId" clId="{01AD31F9-EEE6-45DA-9FDB-9153E52E6986}" dt="2026-09-20T20:42:02.690" v="294" actId="20577"/>
        <pc:sldMkLst>
          <pc:docMk/>
          <pc:sldMk cId="0" sldId="258"/>
        </pc:sldMkLst>
        <pc:spChg chg="mod">
          <ac:chgData name="Paulo Sato" userId="8b5cd5a1ab362708" providerId="LiveId" clId="{01AD31F9-EEE6-45DA-9FDB-9153E52E6986}" dt="2026-09-20T20:27:13.346" v="131" actId="20577"/>
          <ac:spMkLst>
            <pc:docMk/>
            <pc:sldMk cId="0" sldId="258"/>
            <ac:spMk id="69" creationId="{00000000-0000-0000-0000-000000000000}"/>
          </ac:spMkLst>
        </pc:spChg>
        <pc:spChg chg="mod">
          <ac:chgData name="Paulo Sato" userId="8b5cd5a1ab362708" providerId="LiveId" clId="{01AD31F9-EEE6-45DA-9FDB-9153E52E6986}" dt="2026-09-20T20:42:02.690" v="294" actId="20577"/>
          <ac:spMkLst>
            <pc:docMk/>
            <pc:sldMk cId="0" sldId="258"/>
            <ac:spMk id="81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1:12.890" v="199" actId="14100"/>
          <ac:spMkLst>
            <pc:docMk/>
            <pc:sldMk cId="0" sldId="258"/>
            <ac:spMk id="88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0:56.151" v="192" actId="404"/>
          <ac:spMkLst>
            <pc:docMk/>
            <pc:sldMk cId="0" sldId="258"/>
            <ac:spMk id="89" creationId="{00000000-0000-0000-0000-000000000000}"/>
          </ac:spMkLst>
        </pc:spChg>
        <pc:spChg chg="del mod">
          <ac:chgData name="Paulo Sato" userId="8b5cd5a1ab362708" providerId="LiveId" clId="{01AD31F9-EEE6-45DA-9FDB-9153E52E6986}" dt="2026-09-20T20:30:24.309" v="165" actId="478"/>
          <ac:spMkLst>
            <pc:docMk/>
            <pc:sldMk cId="0" sldId="258"/>
            <ac:spMk id="90" creationId="{00000000-0000-0000-0000-000000000000}"/>
          </ac:spMkLst>
        </pc:spChg>
        <pc:spChg chg="mod">
          <ac:chgData name="Paulo Sato" userId="8b5cd5a1ab362708" providerId="LiveId" clId="{01AD31F9-EEE6-45DA-9FDB-9153E52E6986}" dt="2026-09-20T20:31:09.434" v="198" actId="6549"/>
          <ac:spMkLst>
            <pc:docMk/>
            <pc:sldMk cId="0" sldId="258"/>
            <ac:spMk id="91" creationId="{00000000-0000-0000-0000-000000000000}"/>
          </ac:spMkLst>
        </pc:spChg>
        <pc:spChg chg="del">
          <ac:chgData name="Paulo Sato" userId="8b5cd5a1ab362708" providerId="LiveId" clId="{01AD31F9-EEE6-45DA-9FDB-9153E52E6986}" dt="2026-09-20T20:26:04.955" v="116" actId="478"/>
          <ac:spMkLst>
            <pc:docMk/>
            <pc:sldMk cId="0" sldId="258"/>
            <ac:spMk id="92" creationId="{00000000-0000-0000-0000-000000000000}"/>
          </ac:spMkLst>
        </pc:spChg>
        <pc:spChg chg="del">
          <ac:chgData name="Paulo Sato" userId="8b5cd5a1ab362708" providerId="LiveId" clId="{01AD31F9-EEE6-45DA-9FDB-9153E52E6986}" dt="2026-09-20T20:26:06.652" v="117" actId="478"/>
          <ac:spMkLst>
            <pc:docMk/>
            <pc:sldMk cId="0" sldId="258"/>
            <ac:spMk id="93" creationId="{00000000-0000-0000-0000-000000000000}"/>
          </ac:spMkLst>
        </pc:spChg>
        <pc:spChg chg="add del mod">
          <ac:chgData name="Paulo Sato" userId="8b5cd5a1ab362708" providerId="LiveId" clId="{01AD31F9-EEE6-45DA-9FDB-9153E52E6986}" dt="2026-09-20T20:30:10.574" v="162" actId="478"/>
          <ac:spMkLst>
            <pc:docMk/>
            <pc:sldMk cId="0" sldId="258"/>
            <ac:spMk id="94" creationId="{00000000-0000-0000-0000-000000000000}"/>
          </ac:spMkLst>
        </pc:spChg>
        <pc:spChg chg="add del">
          <ac:chgData name="Paulo Sato" userId="8b5cd5a1ab362708" providerId="LiveId" clId="{01AD31F9-EEE6-45DA-9FDB-9153E52E6986}" dt="2026-09-20T20:28:07.700" v="134" actId="22"/>
          <ac:spMkLst>
            <pc:docMk/>
            <pc:sldMk cId="0" sldId="258"/>
            <ac:spMk id="97" creationId="{EC8DAE3E-4C8E-36A4-EDA9-CF52D497232A}"/>
          </ac:spMkLst>
        </pc:spChg>
        <pc:spChg chg="add del">
          <ac:chgData name="Paulo Sato" userId="8b5cd5a1ab362708" providerId="LiveId" clId="{01AD31F9-EEE6-45DA-9FDB-9153E52E6986}" dt="2026-09-20T20:28:13.967" v="136" actId="22"/>
          <ac:spMkLst>
            <pc:docMk/>
            <pc:sldMk cId="0" sldId="258"/>
            <ac:spMk id="99" creationId="{65A20B3E-30C9-2C03-3AAC-238B3EE77E12}"/>
          </ac:spMkLst>
        </pc:spChg>
        <pc:spChg chg="add del">
          <ac:chgData name="Paulo Sato" userId="8b5cd5a1ab362708" providerId="LiveId" clId="{01AD31F9-EEE6-45DA-9FDB-9153E52E6986}" dt="2026-09-20T20:30:12.354" v="163" actId="478"/>
          <ac:spMkLst>
            <pc:docMk/>
            <pc:sldMk cId="0" sldId="258"/>
            <ac:spMk id="101" creationId="{152F0EF9-0B5A-8AA5-329E-7C52AB81462B}"/>
          </ac:spMkLst>
        </pc:spChg>
        <pc:spChg chg="add mod">
          <ac:chgData name="Paulo Sato" userId="8b5cd5a1ab362708" providerId="LiveId" clId="{01AD31F9-EEE6-45DA-9FDB-9153E52E6986}" dt="2026-09-20T20:28:36.172" v="145" actId="571"/>
          <ac:spMkLst>
            <pc:docMk/>
            <pc:sldMk cId="0" sldId="258"/>
            <ac:spMk id="102" creationId="{48947130-AE48-B38F-644B-1E8B1B67DBAD}"/>
          </ac:spMkLst>
        </pc:spChg>
      </pc:sldChg>
      <pc:sldChg chg="addSp modSp add mod">
        <pc:chgData name="Paulo Sato" userId="8b5cd5a1ab362708" providerId="LiveId" clId="{01AD31F9-EEE6-45DA-9FDB-9153E52E6986}" dt="2026-09-20T20:52:37.432" v="318" actId="1076"/>
        <pc:sldMkLst>
          <pc:docMk/>
          <pc:sldMk cId="0" sldId="259"/>
        </pc:sldMkLst>
        <pc:spChg chg="add mod">
          <ac:chgData name="Paulo Sato" userId="8b5cd5a1ab362708" providerId="LiveId" clId="{01AD31F9-EEE6-45DA-9FDB-9153E52E6986}" dt="2026-09-20T20:52:37.432" v="318" actId="1076"/>
          <ac:spMkLst>
            <pc:docMk/>
            <pc:sldMk cId="0" sldId="259"/>
            <ac:spMk id="50" creationId="{67790650-A71B-B5D7-0154-418CD5843A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225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12380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50" b="1" dirty="0">
                <a:solidFill>
                  <a:srgbClr val="08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Transformação da Plataforma Muroa em 180 dias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02920" y="356616"/>
            <a:ext cx="1192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81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Plano de liderança para gerar capacidade, resiliência, modernização e autonomia sustentável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1371600" y="585216"/>
            <a:ext cx="1018641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4251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Quatro ondas de execução conectadas, com foco em pessoas, operação, negócio e evolução da plataforma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128016" y="896112"/>
            <a:ext cx="1325880" cy="53035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FRENTES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TRABALHO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508760" y="896112"/>
            <a:ext cx="2423160" cy="530352"/>
          </a:xfrm>
          <a:prstGeom prst="roundRect">
            <a:avLst/>
          </a:prstGeom>
          <a:solidFill>
            <a:srgbClr val="FFF1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</a:t>
            </a:r>
            <a:r>
              <a:rPr lang="en-US" sz="860" b="1" dirty="0">
                <a:solidFill>
                  <a:srgbClr val="F15A24"/>
                </a:solidFill>
              </a:rPr>
              <a:t>0–30 dias
</a:t>
            </a:r>
            <a:r>
              <a:rPr lang="en-US" sz="620" b="1" dirty="0">
                <a:solidFill>
                  <a:srgbClr val="081D3B"/>
                </a:solidFill>
              </a:rPr>
              <a:t>Diagnosticar e pactuar</a:t>
            </a:r>
            <a:r>
              <a:rPr lang="en-US" sz="15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86784" y="896112"/>
            <a:ext cx="2423160" cy="530352"/>
          </a:xfrm>
          <a:prstGeom prst="roundRect">
            <a:avLst/>
          </a:prstGeom>
          <a:solidFill>
            <a:srgbClr val="EAF4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</a:t>
            </a:r>
            <a:r>
              <a:rPr lang="en-US" sz="860" b="1" dirty="0">
                <a:solidFill>
                  <a:srgbClr val="0B63B6"/>
                </a:solidFill>
              </a:rPr>
              <a:t>31–60 dias
</a:t>
            </a:r>
            <a:r>
              <a:rPr lang="en-US" sz="620" b="1" dirty="0">
                <a:solidFill>
                  <a:srgbClr val="081D3B"/>
                </a:solidFill>
              </a:rPr>
              <a:t>Organizar e estabilizar</a:t>
            </a: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64808" y="896112"/>
            <a:ext cx="2423160" cy="530352"/>
          </a:xfrm>
          <a:prstGeom prst="roundRect">
            <a:avLst/>
          </a:prstGeom>
          <a:solidFill>
            <a:srgbClr val="EAF8F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</a:t>
            </a:r>
            <a:r>
              <a:rPr lang="en-US" sz="860" b="1" dirty="0">
                <a:solidFill>
                  <a:srgbClr val="0A8F4A"/>
                </a:solidFill>
              </a:rPr>
              <a:t>61–90 dias
</a:t>
            </a:r>
            <a:r>
              <a:rPr lang="en-US" sz="620" b="1" dirty="0">
                <a:solidFill>
                  <a:srgbClr val="081D3B"/>
                </a:solidFill>
              </a:rPr>
              <a:t>Ganhar tração e evidenciar valor</a:t>
            </a:r>
            <a:r>
              <a:rPr lang="en-US" sz="15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42832" y="896112"/>
            <a:ext cx="2423160" cy="530352"/>
          </a:xfrm>
          <a:prstGeom prst="roundRect">
            <a:avLst/>
          </a:prstGeom>
          <a:solidFill>
            <a:srgbClr val="FFF1E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</a:t>
            </a:r>
            <a:r>
              <a:rPr lang="en-US" sz="860" b="1" dirty="0">
                <a:solidFill>
                  <a:srgbClr val="F15A24"/>
                </a:solidFill>
              </a:rPr>
              <a:t>91–180 dias
</a:t>
            </a:r>
            <a:r>
              <a:rPr lang="en-US" sz="620" b="1" dirty="0">
                <a:solidFill>
                  <a:srgbClr val="081D3B"/>
                </a:solidFill>
              </a:rPr>
              <a:t>Escalar, consolidar e delegar</a:t>
            </a:r>
            <a:r>
              <a:rPr lang="en-US" sz="15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   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20856" y="896112"/>
            <a:ext cx="1380744" cy="53035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ESPERADOS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128016" y="1490472"/>
            <a:ext cx="1325880" cy="722376"/>
          </a:xfrm>
          <a:prstGeom prst="roundRect">
            <a:avLst/>
          </a:prstGeom>
          <a:solidFill>
            <a:srgbClr val="FFF6F0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  </a:t>
            </a: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Pessoas,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capacidade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Mapear papéis, skills e pontos críticos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Diagnóstico de capacidade e sobrecarga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Plano inicial de IA com baseline do fluxo</a:t>
            </a:r>
            <a:endParaRPr lang="en-US" sz="535" dirty="0"/>
          </a:p>
        </p:txBody>
      </p:sp>
      <p:sp>
        <p:nvSpPr>
          <p:cNvPr id="13" name="Shape 11"/>
          <p:cNvSpPr/>
          <p:nvPr/>
        </p:nvSpPr>
        <p:spPr>
          <a:xfrm>
            <a:off x="1517904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986784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Rebalancear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Build x Run x Modernização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owners e backups por frente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Piloto de IA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real, com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</a:t>
            </a:r>
            <a:endParaRPr lang="en-US" sz="535" dirty="0"/>
          </a:p>
        </p:txBody>
      </p:sp>
      <p:sp>
        <p:nvSpPr>
          <p:cNvPr id="15" name="Shape 13"/>
          <p:cNvSpPr/>
          <p:nvPr/>
        </p:nvSpPr>
        <p:spPr>
          <a:xfrm>
            <a:off x="3995928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64808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Upskilling em Muroa, Aws, IA e Dados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Mentoria e comunidades de prática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Métricas de autonomia e engajamento</a:t>
            </a:r>
            <a:endParaRPr lang="en-US" sz="535" dirty="0"/>
          </a:p>
        </p:txBody>
      </p:sp>
      <p:sp>
        <p:nvSpPr>
          <p:cNvPr id="17" name="Shape 15"/>
          <p:cNvSpPr/>
          <p:nvPr/>
        </p:nvSpPr>
        <p:spPr>
          <a:xfrm>
            <a:off x="6473952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942832" y="1490472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mais autônomo e capacitado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Sucessores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frentes-chave</a:t>
            </a:r>
            <a:endParaRPr lang="en-US" sz="535" dirty="0"/>
          </a:p>
          <a:p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pt-BR" sz="535" dirty="0">
                <a:solidFill>
                  <a:srgbClr val="10294B"/>
                </a:solidFill>
                <a:latin typeface="Aptos" pitchFamily="34" charset="0"/>
              </a:rPr>
              <a:t>IA integrada à jornada ponta a ponta</a:t>
            </a:r>
            <a:endParaRPr lang="en-US" sz="535" dirty="0">
              <a:solidFill>
                <a:srgbClr val="10294B"/>
              </a:solidFill>
              <a:latin typeface="Aptos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951976" y="1527048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1420856" y="1490472"/>
            <a:ext cx="1380744" cy="722376"/>
          </a:xfrm>
          <a:prstGeom prst="roundRect">
            <a:avLst/>
          </a:prstGeom>
          <a:solidFill>
            <a:srgbClr val="FFF6F0"/>
          </a:solidFill>
          <a:ln w="10160">
            <a:solidFill>
              <a:srgbClr val="F15A24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
</a:t>
            </a: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autônomo,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capacitado e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orientado a valor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" y="2263140"/>
            <a:ext cx="1325880" cy="722376"/>
          </a:xfrm>
          <a:prstGeom prst="roundRect">
            <a:avLst/>
          </a:prstGeom>
          <a:solidFill>
            <a:srgbClr val="F1F7FF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  </a:t>
            </a: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Resiliência e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Inventário de serviços, jornadas e dependências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SLOs/SLAs críticos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Quick wins de logging, métricas e playbooks</a:t>
            </a:r>
            <a:endParaRPr lang="en-US" sz="535" dirty="0"/>
          </a:p>
        </p:txBody>
      </p:sp>
      <p:sp>
        <p:nvSpPr>
          <p:cNvPr id="23" name="Shape 21"/>
          <p:cNvSpPr/>
          <p:nvPr/>
        </p:nvSpPr>
        <p:spPr>
          <a:xfrm>
            <a:off x="1517904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986784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Dashboards e alertas prioritários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Logs, métricas e traces mínimos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Rotina de incidentes e problemas</a:t>
            </a:r>
            <a:endParaRPr lang="en-US" sz="535" dirty="0"/>
          </a:p>
        </p:txBody>
      </p:sp>
      <p:sp>
        <p:nvSpPr>
          <p:cNvPr id="25" name="Shape 23"/>
          <p:cNvSpPr/>
          <p:nvPr/>
        </p:nvSpPr>
        <p:spPr>
          <a:xfrm>
            <a:off x="3995928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64808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r>
              <a:rPr lang="en-US" sz="535" dirty="0">
                <a:solidFill>
                  <a:srgbClr val="10294B"/>
                </a:solidFill>
                <a:latin typeface="Aptos" pitchFamily="34" charset="0"/>
              </a:rPr>
              <a:t>• </a:t>
            </a:r>
            <a:r>
              <a:rPr lang="pt-BR" sz="535" dirty="0" err="1">
                <a:solidFill>
                  <a:srgbClr val="10294B"/>
                </a:solidFill>
                <a:latin typeface="Aptos" pitchFamily="34" charset="0"/>
              </a:rPr>
              <a:t>Observabilidade</a:t>
            </a:r>
            <a:r>
              <a:rPr lang="pt-BR" sz="535" dirty="0">
                <a:solidFill>
                  <a:srgbClr val="10294B"/>
                </a:solidFill>
                <a:latin typeface="Aptos" pitchFamily="34" charset="0"/>
              </a:rPr>
              <a:t> ponta a ponta das jornadas críticas</a:t>
            </a:r>
          </a:p>
          <a:p>
            <a:r>
              <a:rPr lang="en-US" sz="535" dirty="0">
                <a:solidFill>
                  <a:srgbClr val="10294B"/>
                </a:solidFill>
                <a:latin typeface="Aptos" pitchFamily="34" charset="0"/>
              </a:rPr>
              <a:t>• Redução de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</a:rPr>
              <a:t>incidentes</a:t>
            </a:r>
            <a:r>
              <a:rPr lang="en-US" sz="535" dirty="0">
                <a:solidFill>
                  <a:srgbClr val="10294B"/>
                </a:solidFill>
                <a:latin typeface="Aptos" pitchFamily="34" charset="0"/>
              </a:rPr>
              <a:t>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</a:rPr>
              <a:t>recorrentes</a:t>
            </a:r>
            <a:endParaRPr lang="en-US" sz="535" dirty="0">
              <a:solidFill>
                <a:srgbClr val="10294B"/>
              </a:solidFill>
              <a:latin typeface="Aptos" pitchFamily="34" charset="0"/>
            </a:endParaRPr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</a:rPr>
              <a:t>• Planos de capacidade e </a:t>
            </a:r>
            <a:r>
              <a:rPr lang="en-US" sz="535" dirty="0" err="1">
                <a:solidFill>
                  <a:srgbClr val="10294B"/>
                </a:solidFill>
                <a:latin typeface="Aptos" pitchFamily="34" charset="0"/>
              </a:rPr>
              <a:t>confiabilidade</a:t>
            </a:r>
            <a:endParaRPr lang="en-US" sz="535" dirty="0">
              <a:solidFill>
                <a:srgbClr val="10294B"/>
              </a:solidFill>
              <a:latin typeface="Aptos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73952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942832" y="2263140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Operação previsível e mais estável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Post-mortem blameless e melhoria contínua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Resiliência como rotina do time</a:t>
            </a:r>
            <a:endParaRPr lang="en-US" sz="535" dirty="0"/>
          </a:p>
        </p:txBody>
      </p:sp>
      <p:sp>
        <p:nvSpPr>
          <p:cNvPr id="29" name="Shape 27"/>
          <p:cNvSpPr/>
          <p:nvPr/>
        </p:nvSpPr>
        <p:spPr>
          <a:xfrm>
            <a:off x="8951976" y="2299716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1420856" y="2263140"/>
            <a:ext cx="1380744" cy="722376"/>
          </a:xfrm>
          <a:prstGeom prst="roundRect">
            <a:avLst/>
          </a:prstGeom>
          <a:solidFill>
            <a:srgbClr val="F1F7FF"/>
          </a:solidFill>
          <a:ln w="10160">
            <a:solidFill>
              <a:srgbClr val="0B63B6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
</a:t>
            </a: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resiliente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observável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ponta a ponta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" y="3035808"/>
            <a:ext cx="1325880" cy="722376"/>
          </a:xfrm>
          <a:prstGeom prst="roundRect">
            <a:avLst/>
          </a:prstGeom>
          <a:solidFill>
            <a:srgbClr val="F1FBF5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  </a:t>
            </a: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Modernização,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legado e FinOps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08760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Mapa do legado e custos AWS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Priorização por valor, risco e esforço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macro até 2028</a:t>
            </a:r>
            <a:endParaRPr lang="en-US" sz="535" dirty="0"/>
          </a:p>
        </p:txBody>
      </p:sp>
      <p:sp>
        <p:nvSpPr>
          <p:cNvPr id="33" name="Shape 31"/>
          <p:cNvSpPr/>
          <p:nvPr/>
        </p:nvSpPr>
        <p:spPr>
          <a:xfrm>
            <a:off x="1517904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3986784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Right sizing e cortes de desperdício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Ondas iniciais de modernização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Política inicial de FinOps</a:t>
            </a:r>
            <a:endParaRPr lang="en-US" sz="535" dirty="0"/>
          </a:p>
        </p:txBody>
      </p:sp>
      <p:sp>
        <p:nvSpPr>
          <p:cNvPr id="35" name="Shape 33"/>
          <p:cNvSpPr/>
          <p:nvPr/>
        </p:nvSpPr>
        <p:spPr>
          <a:xfrm>
            <a:off x="3995928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64808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Entregas iniciais de modernização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Ganhos mensuráveis de custo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Plano de retirada do legado validado</a:t>
            </a:r>
            <a:endParaRPr lang="en-US" sz="535" dirty="0"/>
          </a:p>
        </p:txBody>
      </p:sp>
      <p:sp>
        <p:nvSpPr>
          <p:cNvPr id="37" name="Shape 35"/>
          <p:cNvSpPr/>
          <p:nvPr/>
        </p:nvSpPr>
        <p:spPr>
          <a:xfrm>
            <a:off x="6473952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942832" y="3035808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2028 protegido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FinOps incorporado à governança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Custos mais previsíveis e sustentáveis</a:t>
            </a:r>
            <a:endParaRPr lang="en-US" sz="535" dirty="0"/>
          </a:p>
        </p:txBody>
      </p:sp>
      <p:sp>
        <p:nvSpPr>
          <p:cNvPr id="39" name="Shape 37"/>
          <p:cNvSpPr/>
          <p:nvPr/>
        </p:nvSpPr>
        <p:spPr>
          <a:xfrm>
            <a:off x="8951976" y="3072384"/>
            <a:ext cx="22860" cy="649224"/>
          </a:xfrm>
          <a:prstGeom prst="rect">
            <a:avLst/>
          </a:prstGeom>
          <a:solidFill>
            <a:srgbClr val="0A8F4A"/>
          </a:solidFill>
          <a:ln w="12700">
            <a:solidFill>
              <a:srgbClr val="0A8F4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11420856" y="3035808"/>
            <a:ext cx="1380744" cy="722376"/>
          </a:xfrm>
          <a:prstGeom prst="roundRect">
            <a:avLst/>
          </a:prstGeom>
          <a:solidFill>
            <a:srgbClr val="F1FBF5"/>
          </a:solidFill>
          <a:ln w="10160">
            <a:solidFill>
              <a:srgbClr val="0A8F4A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
</a:t>
            </a: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mais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eficiente e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custo-efetiva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" y="3808476"/>
            <a:ext cx="1325880" cy="722376"/>
          </a:xfrm>
          <a:prstGeom prst="roundRect">
            <a:avLst/>
          </a:prstGeom>
          <a:solidFill>
            <a:srgbClr val="FFF6F0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  </a:t>
            </a: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Áreas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consumidoras e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 Muroa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08760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Mapear consumidores, dependências e dores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Entender compromissos e conflitos de prioridade</a:t>
            </a:r>
            <a:endParaRPr lang="en-US" sz="535" dirty="0"/>
          </a:p>
          <a:p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pt-BR" sz="535" dirty="0">
                <a:solidFill>
                  <a:srgbClr val="10294B"/>
                </a:solidFill>
                <a:latin typeface="Aptos" pitchFamily="34" charset="0"/>
              </a:rPr>
              <a:t>Engajar o fornecedor como parceiro da transformação.</a:t>
            </a:r>
            <a:endParaRPr lang="en-US" sz="535" dirty="0">
              <a:solidFill>
                <a:srgbClr val="10294B"/>
              </a:solidFill>
              <a:latin typeface="Aptos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517904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3986784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Roadmap compartilhado com consumidores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Critérios claros de escalonamento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Negociação transparente de trade-offs</a:t>
            </a:r>
            <a:endParaRPr lang="en-US" sz="535" dirty="0"/>
          </a:p>
        </p:txBody>
      </p:sp>
      <p:sp>
        <p:nvSpPr>
          <p:cNvPr id="45" name="Shape 43"/>
          <p:cNvSpPr/>
          <p:nvPr/>
        </p:nvSpPr>
        <p:spPr>
          <a:xfrm>
            <a:off x="3995928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464808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Compromissos mais previsíveis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Redução de conflitos e retrabalho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Decisões baseadas em dados e contexto</a:t>
            </a:r>
            <a:endParaRPr lang="en-US" sz="535" dirty="0"/>
          </a:p>
        </p:txBody>
      </p:sp>
      <p:sp>
        <p:nvSpPr>
          <p:cNvPr id="47" name="Shape 45"/>
          <p:cNvSpPr/>
          <p:nvPr/>
        </p:nvSpPr>
        <p:spPr>
          <a:xfrm>
            <a:off x="6473952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942832" y="3808476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Ecossistema mais alinhado ao valor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mais produtiva com fornecedor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Governança estável com áreas parceiras</a:t>
            </a:r>
            <a:endParaRPr lang="en-US" sz="535" dirty="0"/>
          </a:p>
        </p:txBody>
      </p:sp>
      <p:sp>
        <p:nvSpPr>
          <p:cNvPr id="49" name="Shape 47"/>
          <p:cNvSpPr/>
          <p:nvPr/>
        </p:nvSpPr>
        <p:spPr>
          <a:xfrm>
            <a:off x="8951976" y="3845052"/>
            <a:ext cx="22860" cy="649224"/>
          </a:xfrm>
          <a:prstGeom prst="rect">
            <a:avLst/>
          </a:prstGeom>
          <a:solidFill>
            <a:srgbClr val="F15A24"/>
          </a:solidFill>
          <a:ln w="12700">
            <a:solidFill>
              <a:srgbClr val="F15A24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11420856" y="3808476"/>
            <a:ext cx="1380744" cy="722376"/>
          </a:xfrm>
          <a:prstGeom prst="roundRect">
            <a:avLst/>
          </a:prstGeom>
          <a:solidFill>
            <a:srgbClr val="FFF6F0"/>
          </a:solidFill>
          <a:ln w="10160">
            <a:solidFill>
              <a:srgbClr val="F15A24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
</a:t>
            </a: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alinhado e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reativo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28016" y="4581144"/>
            <a:ext cx="1325880" cy="722376"/>
          </a:xfrm>
          <a:prstGeom prst="roundRect">
            <a:avLst/>
          </a:prstGeom>
          <a:solidFill>
            <a:srgbClr val="F1F7FF"/>
          </a:solidFill>
          <a:ln w="7620">
            <a:solidFill>
              <a:srgbClr val="D6E0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  </a:t>
            </a: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Estratégia e</a:t>
            </a:r>
            <a:endParaRPr lang="en-US" sz="1600" dirty="0"/>
          </a:p>
          <a:p>
            <a:pPr marL="0" indent="0">
              <a:buNone/>
            </a:pPr>
            <a:r>
              <a:rPr lang="en-US" sz="74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liderança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508760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Traduzir KRs em plano de 180 dias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metas, indicadores e renúncias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Estabelecer governança e cadência</a:t>
            </a:r>
            <a:endParaRPr lang="en-US" sz="535" dirty="0"/>
          </a:p>
        </p:txBody>
      </p:sp>
      <p:sp>
        <p:nvSpPr>
          <p:cNvPr id="53" name="Shape 51"/>
          <p:cNvSpPr/>
          <p:nvPr/>
        </p:nvSpPr>
        <p:spPr>
          <a:xfrm>
            <a:off x="1517904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3986784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Acompanhar execução por evidências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Remover impedimentos sistêmicos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Comunicação executiva simples e frequente</a:t>
            </a:r>
            <a:endParaRPr lang="en-US" sz="535" dirty="0"/>
          </a:p>
        </p:txBody>
      </p:sp>
      <p:sp>
        <p:nvSpPr>
          <p:cNvPr id="55" name="Shape 53"/>
          <p:cNvSpPr/>
          <p:nvPr/>
        </p:nvSpPr>
        <p:spPr>
          <a:xfrm>
            <a:off x="3995928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6464808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Delegação progressiva com contexto e limites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Fóruns de decisão do próprio time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Aprendizado com erros e acertos</a:t>
            </a:r>
            <a:endParaRPr lang="en-US" sz="535" dirty="0"/>
          </a:p>
        </p:txBody>
      </p:sp>
      <p:sp>
        <p:nvSpPr>
          <p:cNvPr id="57" name="Shape 55"/>
          <p:cNvSpPr/>
          <p:nvPr/>
        </p:nvSpPr>
        <p:spPr>
          <a:xfrm>
            <a:off x="6473952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8942832" y="4581144"/>
            <a:ext cx="2423160" cy="72237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DE6F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Menos centralização na coordenação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decide mais sem depender da liderança</a:t>
            </a:r>
            <a:endParaRPr lang="en-US" sz="535" dirty="0"/>
          </a:p>
          <a:p>
            <a:pPr marL="0" indent="0" algn="l">
              <a:buNone/>
            </a:pPr>
            <a:r>
              <a:rPr lang="en-US" sz="535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Liderança distribuída e escalável</a:t>
            </a:r>
            <a:endParaRPr lang="en-US" sz="535" dirty="0"/>
          </a:p>
        </p:txBody>
      </p:sp>
      <p:sp>
        <p:nvSpPr>
          <p:cNvPr id="59" name="Shape 57"/>
          <p:cNvSpPr/>
          <p:nvPr/>
        </p:nvSpPr>
        <p:spPr>
          <a:xfrm>
            <a:off x="8951976" y="4617720"/>
            <a:ext cx="22860" cy="649224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11420856" y="4581144"/>
            <a:ext cx="1380744" cy="722376"/>
          </a:xfrm>
          <a:prstGeom prst="roundRect">
            <a:avLst/>
          </a:prstGeom>
          <a:solidFill>
            <a:srgbClr val="F1F7FF"/>
          </a:solidFill>
          <a:ln w="10160">
            <a:solidFill>
              <a:srgbClr val="0B63B6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
</a:t>
            </a: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Liderança leve,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clara e</a:t>
            </a:r>
            <a:endParaRPr lang="en-US" sz="140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contínuos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219456" y="5934456"/>
            <a:ext cx="10515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ECOSSISTEMA</a:t>
            </a:r>
            <a:endParaRPr lang="en-US" sz="680" dirty="0"/>
          </a:p>
          <a:p>
            <a:pPr marL="0" indent="0" algn="l">
              <a:buNone/>
            </a:pPr>
            <a:r>
              <a:rPr lang="en-US" sz="68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PLATAFORMA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1545336" y="5669280"/>
            <a:ext cx="1965960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▰  Front Office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Trading, Sales, Risco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11296" y="5934456"/>
            <a:ext cx="566928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4059936" y="5669280"/>
            <a:ext cx="4434840" cy="530352"/>
          </a:xfrm>
          <a:prstGeom prst="roundRect">
            <a:avLst/>
          </a:prstGeom>
          <a:solidFill>
            <a:srgbClr val="081D3B"/>
          </a:solidFill>
          <a:ln w="8255">
            <a:solidFill>
              <a:srgbClr val="081D3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MUROA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 Operação    ▣ Dados    🛡 Risco    ▤ Processos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8494776" y="5934456"/>
            <a:ext cx="292608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/>
          <p:nvPr/>
        </p:nvSpPr>
        <p:spPr>
          <a:xfrm>
            <a:off x="8814816" y="5669280"/>
            <a:ext cx="1810512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  Back Office / Contábil</a:t>
            </a:r>
            <a:endParaRPr lang="en-US" sz="66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Confirmações, Liquidação, Contábil</a:t>
            </a:r>
            <a:endParaRPr lang="en-US" sz="660" dirty="0"/>
          </a:p>
        </p:txBody>
      </p:sp>
      <p:sp>
        <p:nvSpPr>
          <p:cNvPr id="67" name="Shape 65"/>
          <p:cNvSpPr/>
          <p:nvPr/>
        </p:nvSpPr>
        <p:spPr>
          <a:xfrm>
            <a:off x="10625328" y="5934456"/>
            <a:ext cx="310896" cy="0"/>
          </a:xfrm>
          <a:prstGeom prst="line">
            <a:avLst/>
          </a:prstGeom>
          <a:noFill/>
          <a:ln w="12700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/>
          <p:nvPr/>
        </p:nvSpPr>
        <p:spPr>
          <a:xfrm>
            <a:off x="10963656" y="5669280"/>
            <a:ext cx="1865376" cy="530352"/>
          </a:xfrm>
          <a:prstGeom prst="roundRect">
            <a:avLst/>
          </a:prstGeom>
          <a:solidFill>
            <a:srgbClr val="F1F7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👥  Sistemas consumidores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BI, Risco, Regulatório</a:t>
            </a:r>
            <a:endParaRPr lang="en-US" sz="680" dirty="0"/>
          </a:p>
        </p:txBody>
      </p:sp>
      <p:sp>
        <p:nvSpPr>
          <p:cNvPr id="69" name="Text 67"/>
          <p:cNvSpPr/>
          <p:nvPr/>
        </p:nvSpPr>
        <p:spPr>
          <a:xfrm>
            <a:off x="1911096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☁  AWS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Compute, Storage, Networking</a:t>
            </a:r>
            <a:endParaRPr lang="en-US" sz="630" dirty="0"/>
          </a:p>
        </p:txBody>
      </p:sp>
      <p:sp>
        <p:nvSpPr>
          <p:cNvPr id="70" name="Shape 68"/>
          <p:cNvSpPr/>
          <p:nvPr/>
        </p:nvSpPr>
        <p:spPr>
          <a:xfrm>
            <a:off x="2939796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4215384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  Observabilidade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Métricas, Traces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5244084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6519672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  Mensageria e Dados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Streaming, Integrações, Bancos de Dados</a:t>
            </a:r>
            <a:endParaRPr lang="en-US" sz="630" dirty="0"/>
          </a:p>
        </p:txBody>
      </p:sp>
      <p:sp>
        <p:nvSpPr>
          <p:cNvPr id="74" name="Shape 72"/>
          <p:cNvSpPr/>
          <p:nvPr/>
        </p:nvSpPr>
        <p:spPr>
          <a:xfrm>
            <a:off x="7548372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8823960" y="6373368"/>
            <a:ext cx="2057400" cy="402336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8DA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  Legados em retirada</a:t>
            </a:r>
            <a:endParaRPr lang="en-US" sz="630" dirty="0"/>
          </a:p>
          <a:p>
            <a:pPr marL="0" indent="0" algn="ctr">
              <a:buNone/>
            </a:pPr>
            <a:r>
              <a:rPr lang="en-US" sz="63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Descontinuação planejada</a:t>
            </a:r>
            <a:endParaRPr lang="en-US" sz="630" dirty="0"/>
          </a:p>
        </p:txBody>
      </p:sp>
      <p:sp>
        <p:nvSpPr>
          <p:cNvPr id="76" name="Shape 74"/>
          <p:cNvSpPr/>
          <p:nvPr/>
        </p:nvSpPr>
        <p:spPr>
          <a:xfrm>
            <a:off x="9852660" y="6199632"/>
            <a:ext cx="0" cy="173736"/>
          </a:xfrm>
          <a:prstGeom prst="line">
            <a:avLst/>
          </a:prstGeom>
          <a:noFill/>
          <a:ln w="8255">
            <a:solidFill>
              <a:srgbClr val="0B63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128016" y="7004304"/>
            <a:ext cx="960120" cy="585216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MARCOS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PRINCIPAIS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1170432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  </a:t>
            </a:r>
            <a:r>
              <a:rPr lang="en-US" sz="1400" b="1" dirty="0">
                <a:solidFill>
                  <a:srgbClr val="F15A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  </a:t>
            </a:r>
            <a:r>
              <a:rPr lang="en-US" sz="700" b="1" dirty="0">
                <a:solidFill>
                  <a:srgbClr val="F15A24"/>
                </a:solidFill>
              </a:rPr>
              <a:t>Baseline aprovado | Dia 30
</a:t>
            </a:r>
            <a:r>
              <a:rPr lang="en-US" sz="580" dirty="0">
                <a:solidFill>
                  <a:srgbClr val="42516D"/>
                </a:solidFill>
              </a:rPr>
              <a:t>Inventário, riscos, custos e plano priorizado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99432" y="7141464"/>
            <a:ext cx="146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A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4809744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  </a:t>
            </a:r>
            <a:r>
              <a:rPr lang="en-US" sz="14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  </a:t>
            </a:r>
            <a:r>
              <a:rPr lang="en-US" sz="700" b="1" dirty="0">
                <a:solidFill>
                  <a:srgbClr val="0B63B6"/>
                </a:solidFill>
              </a:rPr>
              <a:t>Evidência de valor | Dia 90
</a:t>
            </a:r>
            <a:r>
              <a:rPr lang="en-US" sz="580" dirty="0">
                <a:solidFill>
                  <a:srgbClr val="42516D"/>
                </a:solidFill>
              </a:rPr>
              <a:t>Quick wins, evidência de valor e ganhos percebidos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8238744" y="7141464"/>
            <a:ext cx="1463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A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000" dirty="0"/>
          </a:p>
        </p:txBody>
      </p:sp>
      <p:sp>
        <p:nvSpPr>
          <p:cNvPr id="82" name="Text 80"/>
          <p:cNvSpPr/>
          <p:nvPr/>
        </p:nvSpPr>
        <p:spPr>
          <a:xfrm>
            <a:off x="8449056" y="7004304"/>
            <a:ext cx="3383280" cy="58521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E1E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  </a:t>
            </a:r>
            <a:r>
              <a:rPr lang="en-US" sz="14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  </a:t>
            </a:r>
            <a:r>
              <a:rPr lang="en-US" sz="700" b="1" dirty="0">
                <a:solidFill>
                  <a:srgbClr val="0A8F4A"/>
                </a:solidFill>
              </a:rPr>
              <a:t>Autonomia e roadmap protegido | Dia 180
</a:t>
            </a:r>
            <a:r>
              <a:rPr lang="en-US" sz="580" dirty="0">
                <a:solidFill>
                  <a:srgbClr val="42516D"/>
                </a:solidFill>
              </a:rPr>
              <a:t>Mais decisões no time e evolução sustentável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28016" y="7726680"/>
            <a:ext cx="960120" cy="621792"/>
          </a:xfrm>
          <a:prstGeom prst="roundRect">
            <a:avLst/>
          </a:prstGeom>
          <a:solidFill>
            <a:srgbClr val="EEF3F8"/>
          </a:solidFill>
          <a:ln w="8255">
            <a:solidFill>
              <a:srgbClr val="E3EA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081D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ENTREGUE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1170432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risco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operacional</a:t>
            </a:r>
            <a:endParaRPr lang="en-US" sz="1500" dirty="0"/>
          </a:p>
        </p:txBody>
      </p:sp>
      <p:sp>
        <p:nvSpPr>
          <p:cNvPr id="85" name="Text 83"/>
          <p:cNvSpPr/>
          <p:nvPr/>
        </p:nvSpPr>
        <p:spPr>
          <a:xfrm>
            <a:off x="3119628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Eficiência de custos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FinOps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5068824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◷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previsibilidade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 entregas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7018020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▰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Decisões melhores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dados e IA</a:t>
            </a:r>
            <a:endParaRPr lang="en-US" sz="1500" dirty="0"/>
          </a:p>
        </p:txBody>
      </p:sp>
      <p:sp>
        <p:nvSpPr>
          <p:cNvPr id="88" name="Text 86"/>
          <p:cNvSpPr/>
          <p:nvPr/>
        </p:nvSpPr>
        <p:spPr>
          <a:xfrm>
            <a:off x="8967216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63B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mais autônomo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engajado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10916412" y="7726680"/>
            <a:ext cx="1885188" cy="6217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E4E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8F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  </a:t>
            </a: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Modernização</a:t>
            </a:r>
            <a:endParaRPr lang="en-US" sz="1500" dirty="0"/>
          </a:p>
          <a:p>
            <a:pPr marL="0" indent="0">
              <a:buNone/>
            </a:pPr>
            <a:r>
              <a:rPr lang="en-US" sz="620" b="1" dirty="0">
                <a:solidFill>
                  <a:srgbClr val="1029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sustentável da plataforma</a:t>
            </a:r>
            <a:endParaRPr lang="en-US" sz="1500" dirty="0"/>
          </a:p>
        </p:txBody>
      </p:sp>
      <p:sp>
        <p:nvSpPr>
          <p:cNvPr id="91" name="Shape 89"/>
          <p:cNvSpPr/>
          <p:nvPr/>
        </p:nvSpPr>
        <p:spPr>
          <a:xfrm>
            <a:off x="128016" y="5367528"/>
            <a:ext cx="12673584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128016" y="7653528"/>
            <a:ext cx="12673584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6CF8391F-E8B7-22D7-EC8B-7DD6B68652A5}"/>
              </a:ext>
            </a:extLst>
          </p:cNvPr>
          <p:cNvSpPr txBox="1"/>
          <p:nvPr/>
        </p:nvSpPr>
        <p:spPr>
          <a:xfrm>
            <a:off x="5825491" y="5462130"/>
            <a:ext cx="13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REVER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929616" cy="82296"/>
          </a:xfrm>
          <a:prstGeom prst="rect">
            <a:avLst/>
          </a:prstGeom>
          <a:solidFill>
            <a:srgbClr val="EA5D15"/>
          </a:solidFill>
          <a:ln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eyebrow"/>
          <p:cNvSpPr txBox="1"/>
          <p:nvPr/>
        </p:nvSpPr>
        <p:spPr>
          <a:xfrm>
            <a:off x="320040" y="182880"/>
            <a:ext cx="4114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750" b="1">
                <a:solidFill>
                  <a:srgbClr val="5C6978"/>
                </a:solidFill>
                <a:latin typeface="Arial"/>
              </a:rPr>
              <a:t>PROCESSO SELETIVO | RT PRODOPS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320040" y="475488"/>
            <a:ext cx="978408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>
                <a:solidFill>
                  <a:srgbClr val="081F3D"/>
                </a:solidFill>
                <a:latin typeface="Arial"/>
              </a:rPr>
              <a:t>Escolhas, renúncias e governança do plano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320040" y="941832"/>
            <a:ext cx="11704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>
                <a:solidFill>
                  <a:srgbClr val="5C6978"/>
                </a:solidFill>
                <a:latin typeface="Arial"/>
              </a:rPr>
              <a:t>A execução dos 180 dias precisa deixar claro o que será priorizado, quem decide e quais evidências provam avanço.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732520"/>
            <a:ext cx="12289536" cy="9144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rincipio_1"/>
          <p:cNvSpPr/>
          <p:nvPr/>
        </p:nvSpPr>
        <p:spPr>
          <a:xfrm>
            <a:off x="320040" y="1325880"/>
            <a:ext cx="3977639" cy="80467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num_1"/>
          <p:cNvSpPr txBox="1"/>
          <p:nvPr/>
        </p:nvSpPr>
        <p:spPr>
          <a:xfrm>
            <a:off x="411479" y="1417320"/>
            <a:ext cx="347472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393192" y="1408176"/>
            <a:ext cx="384048" cy="384048"/>
          </a:xfrm>
          <a:prstGeom prst="ellipse">
            <a:avLst/>
          </a:prstGeom>
          <a:solidFill>
            <a:srgbClr val="EA5D15"/>
          </a:solidFill>
          <a:ln>
            <a:solidFill>
              <a:srgbClr val="EA5D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1426464"/>
            <a:ext cx="384048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399032"/>
            <a:ext cx="3337559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Capacidade real antes de nova demanda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645919"/>
            <a:ext cx="3337559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1000" dirty="0"/>
              <a:t>Dar visibilidade à </a:t>
            </a:r>
            <a:r>
              <a:rPr lang="pt-BR" sz="1000" dirty="0">
                <a:solidFill>
                  <a:srgbClr val="161F2F"/>
                </a:solidFill>
                <a:latin typeface="Arial"/>
              </a:rPr>
              <a:t>capacidade</a:t>
            </a:r>
            <a:r>
              <a:rPr lang="pt-BR" sz="1000" dirty="0"/>
              <a:t> real do time e pactuar prioridades entre Build, </a:t>
            </a:r>
            <a:r>
              <a:rPr lang="pt-BR" sz="1000" dirty="0" err="1"/>
              <a:t>Run</a:t>
            </a:r>
            <a:r>
              <a:rPr lang="pt-BR" sz="1000" dirty="0"/>
              <a:t> e modernização.</a:t>
            </a:r>
            <a:endParaRPr sz="1000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13" name="principio_2"/>
          <p:cNvSpPr/>
          <p:nvPr/>
        </p:nvSpPr>
        <p:spPr>
          <a:xfrm>
            <a:off x="4462271" y="1325880"/>
            <a:ext cx="3977639" cy="804672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num_2"/>
          <p:cNvSpPr txBox="1"/>
          <p:nvPr/>
        </p:nvSpPr>
        <p:spPr>
          <a:xfrm>
            <a:off x="4553711" y="1417320"/>
            <a:ext cx="347472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4535423" y="1408176"/>
            <a:ext cx="384048" cy="384048"/>
          </a:xfrm>
          <a:prstGeom prst="ellipse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5423" y="1426464"/>
            <a:ext cx="384048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3" y="1399032"/>
            <a:ext cx="3337559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Valor, risco e custo orientam a prioridade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3" y="1645919"/>
            <a:ext cx="333755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dirty="0" err="1">
                <a:solidFill>
                  <a:srgbClr val="161F2F"/>
                </a:solidFill>
                <a:latin typeface="Arial"/>
              </a:rPr>
              <a:t>Modernização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e FinOps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avançam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por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evidências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não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por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lista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técnica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.</a:t>
            </a:r>
          </a:p>
        </p:txBody>
      </p:sp>
      <p:sp>
        <p:nvSpPr>
          <p:cNvPr id="19" name="principio_3"/>
          <p:cNvSpPr/>
          <p:nvPr/>
        </p:nvSpPr>
        <p:spPr>
          <a:xfrm>
            <a:off x="8604503" y="1325880"/>
            <a:ext cx="3977639" cy="804672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14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num_3"/>
          <p:cNvSpPr txBox="1"/>
          <p:nvPr/>
        </p:nvSpPr>
        <p:spPr>
          <a:xfrm>
            <a:off x="8695943" y="1417320"/>
            <a:ext cx="347472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8677655" y="1408176"/>
            <a:ext cx="384048" cy="384048"/>
          </a:xfrm>
          <a:prstGeom prst="ellipse">
            <a:avLst/>
          </a:prstGeom>
          <a:solidFill>
            <a:srgbClr val="148753"/>
          </a:solidFill>
          <a:ln>
            <a:solidFill>
              <a:srgbClr val="148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77655" y="1426464"/>
            <a:ext cx="384048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5" y="1399032"/>
            <a:ext cx="3337559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1">
                <a:solidFill>
                  <a:srgbClr val="081F3D"/>
                </a:solidFill>
                <a:latin typeface="Arial"/>
              </a:rPr>
              <a:t>Autonomia sustentável do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1645919"/>
            <a:ext cx="3337559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dirty="0" err="1">
                <a:solidFill>
                  <a:srgbClr val="161F2F"/>
                </a:solidFill>
                <a:latin typeface="Arial"/>
              </a:rPr>
              <a:t>Coordenação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cria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contexto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,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limites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e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cadência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; o time assume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decisões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161F2F"/>
                </a:solidFill>
                <a:latin typeface="Arial"/>
              </a:rPr>
              <a:t>progressivamente</a:t>
            </a:r>
            <a:r>
              <a:rPr sz="1000" b="0" dirty="0">
                <a:solidFill>
                  <a:srgbClr val="161F2F"/>
                </a:solidFill>
                <a:latin typeface="Arial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340864"/>
            <a:ext cx="5623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081F3D"/>
                </a:solidFill>
                <a:latin typeface="Arial"/>
              </a:rPr>
              <a:t>Decisões que eu tomaria como coordenação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2697480"/>
            <a:ext cx="27889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300" b="1">
                <a:solidFill>
                  <a:srgbClr val="005EB8"/>
                </a:solidFill>
                <a:latin typeface="Arial"/>
              </a:rPr>
              <a:t>Escolhas de foco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Proteger capacidade para transformação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Priorizar jornadas críticas e risco operacional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Modernizar por ondas até 2028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Aplicar IA em problema real, com baseline e métrica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t>• Dar visibilidade executiva simples e frequente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2697480"/>
            <a:ext cx="2788920" cy="1874519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300" b="1" dirty="0" err="1">
                <a:solidFill>
                  <a:srgbClr val="EA5D15"/>
                </a:solidFill>
                <a:latin typeface="Arial"/>
              </a:rPr>
              <a:t>Renúncias</a:t>
            </a:r>
            <a:r>
              <a:rPr sz="1300" b="1" dirty="0">
                <a:solidFill>
                  <a:srgbClr val="EA5D15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EA5D15"/>
                </a:solidFill>
                <a:latin typeface="Arial"/>
              </a:rPr>
              <a:t>explícitas</a:t>
            </a:r>
            <a:endParaRPr sz="1300" b="1" dirty="0">
              <a:solidFill>
                <a:srgbClr val="EA5D15"/>
              </a:solidFill>
              <a:latin typeface="Arial"/>
            </a:endParaRP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modernizar</a:t>
            </a:r>
            <a:r>
              <a:rPr dirty="0"/>
              <a:t> </a:t>
            </a:r>
            <a:r>
              <a:rPr dirty="0" err="1"/>
              <a:t>tudo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mesmo</a:t>
            </a:r>
            <a:r>
              <a:rPr dirty="0"/>
              <a:t> tempo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aceitar</a:t>
            </a:r>
            <a:r>
              <a:rPr dirty="0"/>
              <a:t> </a:t>
            </a:r>
            <a:r>
              <a:rPr dirty="0" err="1"/>
              <a:t>tudo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prioridade</a:t>
            </a: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centralizar</a:t>
            </a:r>
            <a:r>
              <a:rPr dirty="0"/>
              <a:t> </a:t>
            </a:r>
            <a:r>
              <a:rPr dirty="0" err="1"/>
              <a:t>decisões</a:t>
            </a:r>
            <a:r>
              <a:rPr dirty="0"/>
              <a:t> </a:t>
            </a:r>
            <a:r>
              <a:rPr dirty="0" err="1"/>
              <a:t>operacionais</a:t>
            </a:r>
            <a:endParaRPr dirty="0"/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manter</a:t>
            </a:r>
            <a:r>
              <a:rPr dirty="0"/>
              <a:t> </a:t>
            </a:r>
            <a:r>
              <a:rPr dirty="0" err="1"/>
              <a:t>manualidade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questionar</a:t>
            </a:r>
            <a:r>
              <a:rPr dirty="0"/>
              <a:t> valor</a:t>
            </a:r>
          </a:p>
          <a:p>
            <a:pPr>
              <a:spcAft>
                <a:spcPts val="100"/>
              </a:spcAft>
              <a:defRPr sz="1050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escalar</a:t>
            </a:r>
            <a:r>
              <a:rPr dirty="0"/>
              <a:t> IA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evidência</a:t>
            </a:r>
            <a:r>
              <a:rPr dirty="0"/>
              <a:t> de valor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40864"/>
            <a:ext cx="6263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081F3D"/>
                </a:solidFill>
                <a:latin typeface="Arial"/>
              </a:rPr>
              <a:t>Responsáveis por papel, não por centralização</a:t>
            </a:r>
          </a:p>
        </p:txBody>
      </p:sp>
      <p:sp>
        <p:nvSpPr>
          <p:cNvPr id="29" name="governanca"/>
          <p:cNvSpPr/>
          <p:nvPr/>
        </p:nvSpPr>
        <p:spPr>
          <a:xfrm>
            <a:off x="6263640" y="2697480"/>
            <a:ext cx="6355080" cy="2560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816352"/>
            <a:ext cx="1645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Frente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816352"/>
            <a:ext cx="20116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Owner principal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816352"/>
            <a:ext cx="23317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60" b="1">
                <a:solidFill>
                  <a:srgbClr val="081F3D"/>
                </a:solidFill>
                <a:latin typeface="Arial"/>
              </a:rPr>
              <a:t>Evidência de avanço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072384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127248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Pessoas/capacidade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127248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869" dirty="0">
                <a:solidFill>
                  <a:srgbClr val="161F2F"/>
                </a:solidFill>
                <a:latin typeface="Arial"/>
              </a:rPr>
              <a:t>Tríade + GTM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058400" y="3127248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owners e backups definidos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383279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438144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Operação/jornadas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438144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869" dirty="0">
                <a:solidFill>
                  <a:srgbClr val="161F2F"/>
                </a:solidFill>
                <a:latin typeface="Arial"/>
              </a:rPr>
              <a:t>Tríade</a:t>
            </a:r>
            <a:r>
              <a:rPr sz="869" b="0" dirty="0">
                <a:solidFill>
                  <a:srgbClr val="161F2F"/>
                </a:solidFill>
                <a:latin typeface="Arial"/>
              </a:rPr>
              <a:t> + owners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3438144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SLOs, alertas e rotina ativa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694176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3749039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Modernização/FinOps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749039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869" b="0" dirty="0">
                <a:solidFill>
                  <a:srgbClr val="161F2F"/>
                </a:solidFill>
                <a:latin typeface="Arial"/>
              </a:rPr>
              <a:t>Engenharia</a:t>
            </a:r>
            <a:r>
              <a:rPr sz="869" b="0" dirty="0">
                <a:solidFill>
                  <a:srgbClr val="161F2F"/>
                </a:solidFill>
                <a:latin typeface="Arial"/>
              </a:rPr>
              <a:t> + </a:t>
            </a:r>
            <a:r>
              <a:rPr lang="pt-BR" sz="869" dirty="0">
                <a:solidFill>
                  <a:srgbClr val="161F2F"/>
                </a:solidFill>
                <a:latin typeface="Arial"/>
              </a:rPr>
              <a:t>TCL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58400" y="3749039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ondas, custos e roadmap 2028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005072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4059935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Consumidores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059935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sz="869" b="0" dirty="0" err="1">
                <a:solidFill>
                  <a:srgbClr val="161F2F"/>
                </a:solidFill>
                <a:latin typeface="Arial"/>
              </a:rPr>
              <a:t>Produto</a:t>
            </a:r>
            <a:r>
              <a:rPr sz="869" b="0" dirty="0">
                <a:solidFill>
                  <a:srgbClr val="161F2F"/>
                </a:solidFill>
                <a:latin typeface="Arial"/>
              </a:rPr>
              <a:t> + </a:t>
            </a:r>
            <a:r>
              <a:rPr lang="pt-BR" sz="869" dirty="0">
                <a:solidFill>
                  <a:srgbClr val="161F2F"/>
                </a:solidFill>
                <a:latin typeface="Arial"/>
              </a:rPr>
              <a:t>Tríade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058400" y="4059935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 dirty="0" err="1">
                <a:solidFill>
                  <a:srgbClr val="161F2F"/>
                </a:solidFill>
                <a:latin typeface="Arial"/>
              </a:rPr>
              <a:t>prioridades</a:t>
            </a:r>
            <a:r>
              <a:rPr sz="869" b="0" dirty="0">
                <a:solidFill>
                  <a:srgbClr val="161F2F"/>
                </a:solidFill>
                <a:latin typeface="Arial"/>
              </a:rPr>
              <a:t> e trade-offs </a:t>
            </a:r>
            <a:r>
              <a:rPr sz="869" b="0" dirty="0" err="1">
                <a:solidFill>
                  <a:srgbClr val="161F2F"/>
                </a:solidFill>
                <a:latin typeface="Arial"/>
              </a:rPr>
              <a:t>pactuados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400800" y="4315968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4370831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4370831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pt-BR" sz="869" b="0" dirty="0">
                <a:solidFill>
                  <a:srgbClr val="161F2F"/>
                </a:solidFill>
                <a:latin typeface="Arial"/>
              </a:rPr>
              <a:t>Engenharia 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058400" y="4370831"/>
            <a:ext cx="2642616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dirty="0">
                <a:solidFill>
                  <a:srgbClr val="161F2F"/>
                </a:solidFill>
                <a:latin typeface="Arial"/>
              </a:rPr>
              <a:t>baseline x </a:t>
            </a:r>
            <a:r>
              <a:rPr sz="900" b="0" dirty="0" err="1">
                <a:solidFill>
                  <a:srgbClr val="161F2F"/>
                </a:solidFill>
                <a:latin typeface="Arial"/>
              </a:rPr>
              <a:t>piloto</a:t>
            </a:r>
            <a:r>
              <a:rPr sz="900" b="0" dirty="0">
                <a:solidFill>
                  <a:srgbClr val="161F2F"/>
                </a:solidFill>
                <a:latin typeface="Arial"/>
              </a:rPr>
              <a:t>: </a:t>
            </a:r>
            <a:r>
              <a:rPr sz="900" b="0" dirty="0" err="1">
                <a:solidFill>
                  <a:srgbClr val="161F2F"/>
                </a:solidFill>
                <a:latin typeface="Arial"/>
              </a:rPr>
              <a:t>fluxo</a:t>
            </a:r>
            <a:r>
              <a:rPr sz="900" b="0" dirty="0">
                <a:solidFill>
                  <a:srgbClr val="161F2F"/>
                </a:solidFill>
                <a:latin typeface="Arial"/>
              </a:rPr>
              <a:t>,</a:t>
            </a:r>
            <a:r>
              <a:rPr lang="pt-BR" sz="900" b="0" dirty="0">
                <a:solidFill>
                  <a:srgbClr val="161F2F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161F2F"/>
                </a:solidFill>
                <a:latin typeface="Arial"/>
              </a:rPr>
              <a:t>qualidade</a:t>
            </a:r>
            <a:r>
              <a:rPr sz="900" b="0" dirty="0">
                <a:solidFill>
                  <a:srgbClr val="161F2F"/>
                </a:solidFill>
                <a:latin typeface="Arial"/>
              </a:rPr>
              <a:t> e </a:t>
            </a:r>
            <a:r>
              <a:rPr sz="900" b="0" dirty="0" err="1">
                <a:solidFill>
                  <a:srgbClr val="161F2F"/>
                </a:solidFill>
                <a:latin typeface="Arial"/>
              </a:rPr>
              <a:t>capacidade</a:t>
            </a:r>
            <a:endParaRPr sz="900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400800" y="4626864"/>
            <a:ext cx="5989320" cy="5486"/>
          </a:xfrm>
          <a:prstGeom prst="rect">
            <a:avLst/>
          </a:prstGeom>
          <a:solidFill>
            <a:srgbClr val="DBE3EB"/>
          </a:solidFill>
          <a:ln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4681727"/>
            <a:ext cx="16459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>
                <a:solidFill>
                  <a:srgbClr val="161F2F"/>
                </a:solidFill>
                <a:latin typeface="Arial"/>
              </a:rPr>
              <a:t>Fornecedor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681727"/>
            <a:ext cx="2011680" cy="24455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r>
              <a:rPr lang="pt-BR" sz="869" dirty="0">
                <a:solidFill>
                  <a:srgbClr val="161F2F"/>
                </a:solidFill>
                <a:latin typeface="Arial"/>
              </a:rPr>
              <a:t>GTM + Tríade</a:t>
            </a:r>
            <a:endParaRPr sz="869" b="0" dirty="0">
              <a:solidFill>
                <a:srgbClr val="161F2F"/>
              </a:solidFill>
              <a:latin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058400" y="4681727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9" b="0" dirty="0" err="1">
                <a:solidFill>
                  <a:srgbClr val="161F2F"/>
                </a:solidFill>
                <a:latin typeface="Arial"/>
              </a:rPr>
              <a:t>conflitos</a:t>
            </a:r>
            <a:r>
              <a:rPr sz="869" b="0" dirty="0">
                <a:solidFill>
                  <a:srgbClr val="161F2F"/>
                </a:solidFill>
                <a:latin typeface="Arial"/>
              </a:rPr>
              <a:t> com </a:t>
            </a:r>
            <a:r>
              <a:rPr sz="869" b="0" dirty="0" err="1">
                <a:solidFill>
                  <a:srgbClr val="161F2F"/>
                </a:solidFill>
                <a:latin typeface="Arial"/>
              </a:rPr>
              <a:t>rito</a:t>
            </a:r>
            <a:r>
              <a:rPr sz="869" b="0" dirty="0">
                <a:solidFill>
                  <a:srgbClr val="161F2F"/>
                </a:solidFill>
                <a:latin typeface="Arial"/>
              </a:rPr>
              <a:t> e </a:t>
            </a:r>
            <a:r>
              <a:rPr sz="869" b="0" dirty="0" err="1">
                <a:solidFill>
                  <a:srgbClr val="161F2F"/>
                </a:solidFill>
                <a:latin typeface="Arial"/>
              </a:rPr>
              <a:t>escalonamento</a:t>
            </a:r>
            <a:r>
              <a:rPr sz="869" b="0" dirty="0">
                <a:solidFill>
                  <a:srgbClr val="161F2F"/>
                </a:solidFill>
                <a:latin typeface="Arial"/>
              </a:rPr>
              <a:t> claro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5440680"/>
            <a:ext cx="12161520" cy="3017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dirty="0" err="1">
                <a:solidFill>
                  <a:srgbClr val="081F3D"/>
                </a:solidFill>
                <a:latin typeface="Arial"/>
              </a:rPr>
              <a:t>Indicadores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: baseline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primeiro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;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medir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fluxo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,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qualidade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e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capacidade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— inclusive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nos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081F3D"/>
                </a:solidFill>
                <a:latin typeface="Arial"/>
              </a:rPr>
              <a:t>experimentos</a:t>
            </a:r>
            <a:r>
              <a:rPr sz="1500" b="1" dirty="0">
                <a:solidFill>
                  <a:srgbClr val="081F3D"/>
                </a:solidFill>
                <a:latin typeface="Arial"/>
              </a:rPr>
              <a:t> de IA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" y="5806440"/>
            <a:ext cx="4005072" cy="1600200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350" b="1" dirty="0">
                <a:solidFill>
                  <a:srgbClr val="EA5D15"/>
                </a:solidFill>
                <a:latin typeface="Arial"/>
              </a:rPr>
              <a:t>D30 | Baseline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capacidade</a:t>
            </a:r>
            <a:r>
              <a:rPr dirty="0"/>
              <a:t> </a:t>
            </a:r>
            <a:r>
              <a:rPr lang="pt-BR" dirty="0"/>
              <a:t>Build x </a:t>
            </a:r>
            <a:r>
              <a:rPr dirty="0"/>
              <a:t>Run x </a:t>
            </a:r>
            <a:r>
              <a:rPr dirty="0" err="1"/>
              <a:t>Modernização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incidentes</a:t>
            </a:r>
            <a:r>
              <a:rPr dirty="0"/>
              <a:t> </a:t>
            </a:r>
            <a:r>
              <a:rPr dirty="0" err="1"/>
              <a:t>recorrentes</a:t>
            </a:r>
            <a:r>
              <a:rPr dirty="0"/>
              <a:t> e MTTR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custos AWS </a:t>
            </a:r>
            <a:r>
              <a:rPr dirty="0" err="1"/>
              <a:t>por</a:t>
            </a:r>
            <a:r>
              <a:rPr dirty="0"/>
              <a:t> workload/jornada</a:t>
            </a: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concentração</a:t>
            </a:r>
            <a:r>
              <a:rPr dirty="0"/>
              <a:t> de </a:t>
            </a:r>
            <a:r>
              <a:rPr dirty="0" err="1"/>
              <a:t>conhecimento</a:t>
            </a:r>
            <a:endParaRPr dirty="0"/>
          </a:p>
        </p:txBody>
      </p:sp>
      <p:sp>
        <p:nvSpPr>
          <p:cNvPr id="59" name="Rounded Rectangle 58"/>
          <p:cNvSpPr/>
          <p:nvPr/>
        </p:nvSpPr>
        <p:spPr>
          <a:xfrm>
            <a:off x="4507992" y="5806440"/>
            <a:ext cx="4005072" cy="160020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350" b="1" dirty="0">
                <a:solidFill>
                  <a:srgbClr val="005EB8"/>
                </a:solidFill>
                <a:latin typeface="Arial"/>
              </a:rPr>
              <a:t>D90 | </a:t>
            </a:r>
            <a:r>
              <a:rPr sz="1350" b="1" dirty="0" err="1">
                <a:solidFill>
                  <a:srgbClr val="005EB8"/>
                </a:solidFill>
                <a:latin typeface="Arial"/>
              </a:rPr>
              <a:t>Tendência</a:t>
            </a:r>
            <a:endParaRPr sz="1350" b="1" dirty="0">
              <a:solidFill>
                <a:srgbClr val="005EB8"/>
              </a:solidFill>
              <a:latin typeface="Arial"/>
            </a:endParaRP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quick wins </a:t>
            </a:r>
            <a:r>
              <a:rPr dirty="0" err="1"/>
              <a:t>percebidos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negócio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jornadas </a:t>
            </a:r>
            <a:r>
              <a:rPr dirty="0" err="1"/>
              <a:t>críticas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observáveis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piloto</a:t>
            </a:r>
            <a:r>
              <a:rPr dirty="0"/>
              <a:t> de IA </a:t>
            </a:r>
            <a:r>
              <a:rPr dirty="0" err="1"/>
              <a:t>medido</a:t>
            </a:r>
            <a:r>
              <a:rPr dirty="0"/>
              <a:t> no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ponta</a:t>
            </a:r>
            <a:r>
              <a:rPr dirty="0"/>
              <a:t> a </a:t>
            </a:r>
            <a:r>
              <a:rPr dirty="0" err="1"/>
              <a:t>ponta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redução</a:t>
            </a:r>
            <a:r>
              <a:rPr dirty="0"/>
              <a:t> de </a:t>
            </a:r>
            <a:r>
              <a:rPr dirty="0" err="1"/>
              <a:t>retrabalho</a:t>
            </a:r>
            <a:r>
              <a:rPr dirty="0"/>
              <a:t> e </a:t>
            </a:r>
            <a:r>
              <a:rPr dirty="0" err="1"/>
              <a:t>conflitos</a:t>
            </a:r>
            <a:endParaRPr dirty="0"/>
          </a:p>
        </p:txBody>
      </p:sp>
      <p:sp>
        <p:nvSpPr>
          <p:cNvPr id="60" name="Rounded Rectangle 59"/>
          <p:cNvSpPr/>
          <p:nvPr/>
        </p:nvSpPr>
        <p:spPr>
          <a:xfrm>
            <a:off x="8695944" y="5806440"/>
            <a:ext cx="4005072" cy="1600200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DB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ctr"/>
            <a:r>
              <a:rPr sz="1350" b="1" dirty="0">
                <a:solidFill>
                  <a:srgbClr val="148753"/>
                </a:solidFill>
                <a:latin typeface="Arial"/>
              </a:rPr>
              <a:t>D180 | </a:t>
            </a:r>
            <a:r>
              <a:rPr sz="1350" b="1" dirty="0" err="1">
                <a:solidFill>
                  <a:srgbClr val="148753"/>
                </a:solidFill>
                <a:latin typeface="Arial"/>
              </a:rPr>
              <a:t>Resultado</a:t>
            </a:r>
            <a:endParaRPr sz="1350" b="1" dirty="0">
              <a:solidFill>
                <a:srgbClr val="148753"/>
              </a:solidFill>
              <a:latin typeface="Arial"/>
            </a:endParaRPr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time decide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escalonar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roadmap 2028 </a:t>
            </a:r>
            <a:r>
              <a:rPr dirty="0" err="1"/>
              <a:t>protegido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FinOps </a:t>
            </a:r>
            <a:r>
              <a:rPr dirty="0" err="1"/>
              <a:t>incorporado</a:t>
            </a:r>
            <a:r>
              <a:rPr dirty="0"/>
              <a:t> à </a:t>
            </a:r>
            <a:r>
              <a:rPr dirty="0" err="1"/>
              <a:t>governança</a:t>
            </a:r>
            <a:endParaRPr dirty="0"/>
          </a:p>
          <a:p>
            <a:pPr>
              <a:spcAft>
                <a:spcPts val="100"/>
              </a:spcAft>
              <a:defRPr sz="1019">
                <a:solidFill>
                  <a:srgbClr val="161F2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operação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previsível</a:t>
            </a:r>
            <a:r>
              <a:rPr dirty="0"/>
              <a:t> e </a:t>
            </a:r>
            <a:r>
              <a:rPr dirty="0" err="1"/>
              <a:t>resiliente</a:t>
            </a:r>
            <a:endParaRPr dirty="0"/>
          </a:p>
        </p:txBody>
      </p:sp>
      <p:sp>
        <p:nvSpPr>
          <p:cNvPr id="61" name="statement"/>
          <p:cNvSpPr/>
          <p:nvPr/>
        </p:nvSpPr>
        <p:spPr>
          <a:xfrm>
            <a:off x="320040" y="7635240"/>
            <a:ext cx="12161520" cy="749808"/>
          </a:xfrm>
          <a:prstGeom prst="roundRect">
            <a:avLst/>
          </a:prstGeom>
          <a:solidFill>
            <a:srgbClr val="081F3D"/>
          </a:solidFill>
          <a:ln w="12700">
            <a:solidFill>
              <a:srgbClr val="08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7716664"/>
            <a:ext cx="11704320" cy="495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400" dirty="0" err="1">
                <a:solidFill>
                  <a:srgbClr val="FFFFFF"/>
                </a:solidFill>
                <a:latin typeface="Arial"/>
              </a:rPr>
              <a:t>Mensagem</a:t>
            </a:r>
            <a:r>
              <a:rPr sz="1400" dirty="0">
                <a:solidFill>
                  <a:srgbClr val="FFFFFF"/>
                </a:solidFill>
                <a:latin typeface="Arial"/>
              </a:rPr>
              <a:t> central:</a:t>
            </a:r>
            <a:endParaRPr lang="pt-BR" sz="1400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pt-BR" sz="1100" b="1" dirty="0">
                <a:solidFill>
                  <a:srgbClr val="FFFFFF"/>
                </a:solidFill>
                <a:latin typeface="Arial"/>
              </a:rPr>
              <a:t>A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coordenação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não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será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 dona de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todas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 as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respostas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;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será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 dona do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contexto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, da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priorização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, dos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limites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 e da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evolução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 da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autonomia</a:t>
            </a:r>
            <a:r>
              <a:rPr sz="1100" b="1" dirty="0">
                <a:solidFill>
                  <a:srgbClr val="FFFFFF"/>
                </a:solidFill>
                <a:latin typeface="Arial"/>
              </a:rPr>
              <a:t> do time.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21440" y="8833104"/>
            <a:ext cx="1005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800" b="0">
                <a:solidFill>
                  <a:srgbClr val="5C6978"/>
                </a:solidFill>
                <a:latin typeface="Arial"/>
              </a:rPr>
              <a:t>2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4AD05792-42DD-4FD8-0F33-EDE138B239D9}"/>
              </a:ext>
            </a:extLst>
          </p:cNvPr>
          <p:cNvSpPr txBox="1"/>
          <p:nvPr/>
        </p:nvSpPr>
        <p:spPr>
          <a:xfrm>
            <a:off x="9083040" y="3477882"/>
            <a:ext cx="13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REVER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929616" cy="73152"/>
          </a:xfrm>
          <a:prstGeom prst="rect">
            <a:avLst/>
          </a:prstGeom>
          <a:solidFill>
            <a:srgbClr val="F16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19456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800" b="1">
                <a:solidFill>
                  <a:srgbClr val="5D6B7A"/>
                </a:solidFill>
                <a:latin typeface="Arial"/>
              </a:defRPr>
            </a:pPr>
            <a:r>
              <a:t>PROCESSO SELETIVO | RT PRODOPS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7043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Arial"/>
              </a:defRPr>
            </a:pPr>
            <a:r>
              <a:t>Evidências concretas da minha atuação atual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932688"/>
            <a:ext cx="1179576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960" b="0">
                <a:solidFill>
                  <a:srgbClr val="5D6B7A"/>
                </a:solidFill>
                <a:latin typeface="Arial"/>
              </a:defRPr>
            </a:pPr>
            <a:r>
              <a:t>Exemplos selecionados para mostrar comportamentos que já pratico como Tech Lead e que pretendo ampliar como Coordenador.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61872"/>
            <a:ext cx="12298680" cy="704088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53312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869" b="1">
                <a:solidFill>
                  <a:srgbClr val="0B1F3A"/>
                </a:solidFill>
                <a:latin typeface="Arial"/>
              </a:defRPr>
            </a:pPr>
            <a:r>
              <a:t>Minha evolução de atuação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554480"/>
            <a:ext cx="1261872" cy="256032"/>
          </a:xfrm>
          <a:prstGeom prst="round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Organizo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1554480"/>
            <a:ext cx="2011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1554480"/>
            <a:ext cx="1261872" cy="256032"/>
          </a:xfrm>
          <a:prstGeom prst="round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Direciono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1554480"/>
            <a:ext cx="2011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92624" y="1554480"/>
            <a:ext cx="1261872" cy="256032"/>
          </a:xfrm>
          <a:prstGeom prst="round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92624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Desenvolvo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554480"/>
            <a:ext cx="2011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1554480"/>
            <a:ext cx="1261872" cy="256032"/>
          </a:xfrm>
          <a:prstGeom prst="round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Delego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1554480"/>
            <a:ext cx="2011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1554480"/>
            <a:ext cx="1261872" cy="256032"/>
          </a:xfrm>
          <a:prstGeom prst="round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2128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Acompanho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1554480"/>
            <a:ext cx="201168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1">
                <a:solidFill>
                  <a:srgbClr val="0B1F3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554480"/>
            <a:ext cx="1261872" cy="256032"/>
          </a:xfrm>
          <a:prstGeom prst="round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1559052"/>
            <a:ext cx="12618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t>Autonomia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194560"/>
            <a:ext cx="64008" cy="1920240"/>
          </a:xfrm>
          <a:prstGeom prst="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56615" y="2194560"/>
            <a:ext cx="3758184" cy="1920240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2286000"/>
            <a:ext cx="3483864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1. Squad: ownership e autonomia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26746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26517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Capacidade reduzida, prioridades concorrentes, dependências e acompanhamento próximo.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1318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31089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Rotacionei assuntos entre membros, criei donos por demanda e apoiei tecnicamente nos gaps.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35890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35661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Mais autonomia, senso de pertencimento e evolução da previsibilidade percebida pela gestão.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0832" y="2194560"/>
            <a:ext cx="64008" cy="1920240"/>
          </a:xfrm>
          <a:prstGeom prst="rect">
            <a:avLst/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407408" y="2194560"/>
            <a:ext cx="3758184" cy="1920240"/>
          </a:xfrm>
          <a:prstGeom prst="roundRect">
            <a:avLst/>
          </a:prstGeom>
          <a:solidFill>
            <a:srgbClr val="FFF0E3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35424" y="2286000"/>
            <a:ext cx="3483864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2. Performance e conversas difíceis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53712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53712" y="26746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26517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Clima e performance passaram a impactar a Squad e as entregas.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53712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3712" y="31318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31089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Aprendi que adiar feedback aumenta custo; hoje atuo antes, com transparência e contexto.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53712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E87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53712" y="35890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5661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Aprendizado gerencial: proteger o coletivo exige conversas difíceis no tempo certo.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21624" y="2194560"/>
            <a:ext cx="64008" cy="1920240"/>
          </a:xfrm>
          <a:prstGeom prst="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458200" y="2194560"/>
            <a:ext cx="3758184" cy="192024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86216" y="2286000"/>
            <a:ext cx="3483864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3. Sucessão, owners e backups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04504" y="26700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04504" y="26746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2872" y="26517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Conhecimento e decisões ainda concentrados em algumas pessoas-chave.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04504" y="31272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04504" y="31318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62872" y="31089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Deleguei frentes, dei espaço para potenciais sucessores e acompanhei comunicação, visão e urgência.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04504" y="3584448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604504" y="3589020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2872" y="3566160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Liderança mais distribuída e redução gradual da dependência do Tech Lead.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370832"/>
            <a:ext cx="64008" cy="1920240"/>
          </a:xfrm>
          <a:prstGeom prst="rect">
            <a:avLst/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356615" y="4370832"/>
            <a:ext cx="3758184" cy="1920240"/>
          </a:xfrm>
          <a:prstGeom prst="roundRect">
            <a:avLst/>
          </a:prstGeom>
          <a:solidFill>
            <a:srgbClr val="EAF3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84632" y="4462272"/>
            <a:ext cx="3483864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4. IA aplicada ao trabalho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48463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2920" y="48508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61288" y="48280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Adoção desigual de IA: muitos low users e resistência inicial ao uso prático.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02920" y="53035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" y="53080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61288" y="52852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rPr dirty="0" err="1"/>
              <a:t>Conectei</a:t>
            </a:r>
            <a:r>
              <a:rPr dirty="0"/>
              <a:t>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dirty="0"/>
              <a:t>Copilot, </a:t>
            </a:r>
            <a:r>
              <a:rPr lang="pt-BR" dirty="0"/>
              <a:t>M356, </a:t>
            </a:r>
            <a:r>
              <a:rPr dirty="0"/>
              <a:t>Devin, Claude, BMAD/HIVE e AI-DLC a </a:t>
            </a:r>
            <a:r>
              <a:rPr dirty="0" err="1"/>
              <a:t>problemas</a:t>
            </a:r>
            <a:r>
              <a:rPr dirty="0"/>
              <a:t> reais de delivery.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57607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2B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02920" y="57652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61288" y="57424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Evolução para mais heavy users quando o valor da IA fica concreto no fluxo de trabalho.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70832" y="4370832"/>
            <a:ext cx="64008" cy="1920240"/>
          </a:xfrm>
          <a:prstGeom prst="rect">
            <a:avLst/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4407408" y="4370832"/>
            <a:ext cx="3758184" cy="192024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35424" y="4462272"/>
            <a:ext cx="3483864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l">
              <a:defRPr sz="1120" b="1">
                <a:solidFill>
                  <a:srgbClr val="0B1F3A"/>
                </a:solidFill>
                <a:latin typeface="Arial"/>
              </a:defRPr>
            </a:pPr>
            <a:r>
              <a:t>5. Capacidade, MVPs e renúncia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53712" y="48463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53712" y="48508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Cenário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48280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Demandas concorrentes, pressão por entrega e capacidade limitada.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53712" y="53035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553712" y="53080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Ação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12080" y="52852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rPr dirty="0" err="1"/>
              <a:t>Quebrei</a:t>
            </a:r>
            <a:r>
              <a:rPr dirty="0"/>
              <a:t> Markit</a:t>
            </a:r>
            <a:r>
              <a:rPr lang="pt-BR" dirty="0"/>
              <a:t> </a:t>
            </a:r>
            <a:r>
              <a:rPr dirty="0"/>
              <a:t>/</a:t>
            </a:r>
            <a:r>
              <a:rPr lang="pt-BR" dirty="0"/>
              <a:t> </a:t>
            </a:r>
            <a:r>
              <a:rPr dirty="0"/>
              <a:t>Confirmation</a:t>
            </a:r>
            <a:r>
              <a:rPr lang="pt-BR" dirty="0"/>
              <a:t> / BDC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MVPs, </a:t>
            </a:r>
            <a:r>
              <a:rPr dirty="0" err="1"/>
              <a:t>explicitando</a:t>
            </a:r>
            <a:r>
              <a:rPr dirty="0"/>
              <a:t> trade-offs para </a:t>
            </a:r>
            <a:r>
              <a:rPr dirty="0" err="1"/>
              <a:t>entregar</a:t>
            </a:r>
            <a:r>
              <a:rPr dirty="0"/>
              <a:t> valor </a:t>
            </a:r>
            <a:r>
              <a:rPr dirty="0" err="1"/>
              <a:t>tático</a:t>
            </a:r>
            <a:r>
              <a:rPr dirty="0"/>
              <a:t>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553712" y="5760720"/>
            <a:ext cx="621792" cy="201168"/>
          </a:xfrm>
          <a:prstGeom prst="roundRect">
            <a:avLst>
              <a:gd name="adj" fmla="val 16000"/>
            </a:avLst>
          </a:prstGeom>
          <a:solidFill>
            <a:srgbClr val="178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53712" y="5765292"/>
            <a:ext cx="62179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defRPr sz="680" b="1">
                <a:solidFill>
                  <a:srgbClr val="FFFFFF"/>
                </a:solidFill>
                <a:latin typeface="Arial"/>
              </a:defRPr>
            </a:pPr>
            <a:r>
              <a:t>Evid.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80" y="5742432"/>
            <a:ext cx="2788920" cy="3383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790" b="0">
                <a:solidFill>
                  <a:srgbClr val="1D2939"/>
                </a:solidFill>
                <a:latin typeface="Arial"/>
              </a:defRPr>
            </a:pPr>
            <a:r>
              <a:t>O negócio recebe benefícios antes; os MVPs seguintes reduzem risco e endereçam ajustes.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21624" y="4370832"/>
            <a:ext cx="3794760" cy="192024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604504" y="4480560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19" b="1">
                <a:solidFill>
                  <a:srgbClr val="0B1F3A"/>
                </a:solidFill>
                <a:latin typeface="Arial"/>
              </a:defRPr>
            </a:pPr>
            <a:r>
              <a:t>Ao final de 180 dias, o time deve decidir sem mim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95944" y="4828032"/>
            <a:ext cx="3291840" cy="1280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>
              <a:defRPr sz="819" b="0">
                <a:solidFill>
                  <a:srgbClr val="1D2939"/>
                </a:solidFill>
                <a:latin typeface="Arial"/>
              </a:defRPr>
            </a:pPr>
            <a:r>
              <a:t>• priorizar incidentes pelos critérios definidos;</a:t>
            </a:r>
            <a:br/>
            <a:r>
              <a:t>• negociar capacidade e trade-offs com contexto;</a:t>
            </a:r>
            <a:br/>
            <a:r>
              <a:t>• conduzir experimentos de IA com métrica;</a:t>
            </a:r>
            <a:br/>
            <a:r>
              <a:t>• propor caminhos técnicos dentro do roadmap;</a:t>
            </a:r>
            <a:br/>
            <a:r>
              <a:t>• escalar só prioridade, risco, orçamento ou conflito entre áreas.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20040" y="6693408"/>
            <a:ext cx="12298680" cy="704088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02920" y="6793992"/>
            <a:ext cx="119329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 sz="1200" dirty="0" err="1"/>
              <a:t>Mensagem</a:t>
            </a:r>
            <a:r>
              <a:rPr sz="1200" dirty="0"/>
              <a:t> central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8932" y="7066788"/>
            <a:ext cx="11567160" cy="164592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10000"/>
          </a:bodyPr>
          <a:lstStyle/>
          <a:p>
            <a:pPr algn="ctr">
              <a:defRPr sz="869" b="0">
                <a:solidFill>
                  <a:srgbClr val="FFFFFF"/>
                </a:solidFill>
                <a:latin typeface="Arial"/>
              </a:defRPr>
            </a:pPr>
            <a:r>
              <a:rPr sz="1300" dirty="0"/>
              <a:t>O </a:t>
            </a:r>
            <a:r>
              <a:rPr sz="1300" dirty="0" err="1"/>
              <a:t>objetivo</a:t>
            </a:r>
            <a:r>
              <a:rPr sz="1300" dirty="0"/>
              <a:t> é o time </a:t>
            </a:r>
            <a:r>
              <a:rPr sz="1300" dirty="0" err="1"/>
              <a:t>funcionar</a:t>
            </a:r>
            <a:r>
              <a:rPr sz="1300" dirty="0"/>
              <a:t> </a:t>
            </a:r>
            <a:r>
              <a:rPr sz="1300" dirty="0" err="1"/>
              <a:t>melhor</a:t>
            </a:r>
            <a:r>
              <a:rPr sz="1300" dirty="0"/>
              <a:t> com </a:t>
            </a:r>
            <a:r>
              <a:rPr sz="1300" b="1" dirty="0" err="1">
                <a:solidFill>
                  <a:srgbClr val="FFFFFF"/>
                </a:solidFill>
                <a:latin typeface="Arial"/>
              </a:rPr>
              <a:t>menos</a:t>
            </a:r>
            <a:r>
              <a:rPr sz="1300" dirty="0"/>
              <a:t> </a:t>
            </a:r>
            <a:r>
              <a:rPr sz="1300" b="1" dirty="0" err="1"/>
              <a:t>dependência</a:t>
            </a:r>
            <a:r>
              <a:rPr sz="1300" dirty="0"/>
              <a:t> da </a:t>
            </a:r>
            <a:r>
              <a:rPr sz="1300" dirty="0" err="1"/>
              <a:t>minha</a:t>
            </a:r>
            <a:r>
              <a:rPr sz="1300" dirty="0"/>
              <a:t> </a:t>
            </a:r>
            <a:r>
              <a:rPr sz="1300" dirty="0" err="1"/>
              <a:t>atuação</a:t>
            </a:r>
            <a:r>
              <a:rPr sz="1300" dirty="0"/>
              <a:t> </a:t>
            </a:r>
            <a:r>
              <a:rPr sz="1300" dirty="0" err="1"/>
              <a:t>direta</a:t>
            </a:r>
            <a:r>
              <a:rPr sz="1300" dirty="0"/>
              <a:t>.</a:t>
            </a:r>
            <a:endParaRPr lang="pt-BR" sz="1300" dirty="0"/>
          </a:p>
          <a:p>
            <a:pPr algn="ctr">
              <a:defRPr sz="869" b="0">
                <a:solidFill>
                  <a:srgbClr val="FFFFFF"/>
                </a:solidFill>
                <a:latin typeface="Arial"/>
              </a:defRPr>
            </a:pPr>
            <a:endParaRPr lang="pt-BR" dirty="0"/>
          </a:p>
          <a:p>
            <a:pPr algn="ctr">
              <a:defRPr sz="869" b="0">
                <a:solidFill>
                  <a:srgbClr val="FFFFFF"/>
                </a:solidFill>
                <a:latin typeface="Arial"/>
              </a:defRPr>
            </a:pPr>
            <a:endParaRPr dirty="0"/>
          </a:p>
        </p:txBody>
      </p:sp>
      <p:sp>
        <p:nvSpPr>
          <p:cNvPr id="94" name="Rectangle 93"/>
          <p:cNvSpPr/>
          <p:nvPr/>
        </p:nvSpPr>
        <p:spPr>
          <a:xfrm>
            <a:off x="333756" y="7670292"/>
            <a:ext cx="12298680" cy="9144"/>
          </a:xfrm>
          <a:prstGeom prst="rect">
            <a:avLst/>
          </a:prstGeom>
          <a:solidFill>
            <a:srgbClr val="CFD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2298680" y="8759952"/>
            <a:ext cx="228600" cy="1097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defRPr sz="650" b="0">
                <a:solidFill>
                  <a:srgbClr val="5D6B7A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82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850" b="1">
                <a:solidFill>
                  <a:srgbClr val="667085"/>
                </a:solidFill>
              </a:defRPr>
            </a:pPr>
            <a:r>
              <a:t>PROCESSO SELETIVO | RT PRODOPS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2300" b="1">
                <a:solidFill>
                  <a:srgbClr val="0B1F3A"/>
                </a:solidFill>
              </a:defRPr>
            </a:pPr>
            <a:r>
              <a:t>Insight de IA: medir benefício no fluxo ponta a ponta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04672"/>
            <a:ext cx="11338560" cy="2926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1150" b="0">
                <a:solidFill>
                  <a:srgbClr val="667085"/>
                </a:solidFill>
              </a:defRPr>
            </a:pPr>
            <a:r>
              <a:t>Não medir apenas adoção da ferramenta. Comparar baseline vs depois da IA/agentes nas etapas reais da entrega.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225296"/>
            <a:ext cx="2788920" cy="1325880"/>
          </a:xfrm>
          <a:prstGeom prst="roundRect">
            <a:avLst/>
          </a:prstGeom>
          <a:solidFill>
            <a:srgbClr val="FFF2E8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E87522"/>
                </a:solidFill>
              </a:defRPr>
            </a:pPr>
            <a:r>
              <a:t>Evitar métricas de vaidade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Quantidade de código gerado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Número de prompts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Pessoas usando a ferramenta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225296"/>
            <a:ext cx="2788920" cy="1325880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563A6"/>
                </a:solidFill>
              </a:defRPr>
            </a:pPr>
            <a:r>
              <a:t>Medir o processo completo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Demanda → produção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Tempo de espera e gargalos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Qualidade e retrabalho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25296"/>
            <a:ext cx="2697480" cy="1325880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C8A57"/>
                </a:solidFill>
              </a:defRPr>
            </a:pPr>
            <a:r>
              <a:t>Traduzir em capacidade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Horas liberadas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Mais ciclos de aprendizado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Mais foco em modernização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225296"/>
            <a:ext cx="2679192" cy="1325880"/>
          </a:xfrm>
          <a:prstGeom prst="roundRect">
            <a:avLst/>
          </a:prstGeom>
          <a:solidFill>
            <a:srgbClr val="F5F7FA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B1F3A"/>
                </a:solidFill>
              </a:defRPr>
            </a:pPr>
            <a:r>
              <a:t>Mensagem executiva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IA não é “código mais rápido”</a:t>
            </a:r>
          </a:p>
          <a:p>
            <a:pPr>
              <a:spcAft>
                <a:spcPts val="150"/>
              </a:spcAft>
              <a:defRPr sz="950">
                <a:solidFill>
                  <a:srgbClr val="0B1F3A"/>
                </a:solidFill>
              </a:defRPr>
            </a:pPr>
            <a:r>
              <a:t>É fluxo melhor e valor percebido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8892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</a:defRPr>
            </a:pPr>
            <a:r>
              <a:t>Scorecard simples para iniciativas com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7889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1400" b="1">
                <a:solidFill>
                  <a:srgbClr val="2563A6"/>
                </a:solidFill>
              </a:defRPr>
            </a:pPr>
            <a:r>
              <a:t>Baseline → depois da IA → variação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154680"/>
            <a:ext cx="21762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bIns="54864" rtlCol="0" anchor="ctr">
            <a:normAutofit/>
          </a:bodyPr>
          <a:lstStyle/>
          <a:p>
            <a:pPr algn="ctr">
              <a:defRPr sz="1200" b="1">
                <a:solidFill>
                  <a:srgbClr val="2563A6"/>
                </a:solidFill>
              </a:defRPr>
            </a:pPr>
            <a:r>
              <a:t>Velocidade</a:t>
            </a:r>
          </a:p>
          <a:p>
            <a:pPr>
              <a:defRPr sz="850">
                <a:solidFill>
                  <a:srgbClr val="0B1F3A"/>
                </a:solidFill>
              </a:defRPr>
            </a:pPr>
            <a:r>
              <a:t>Lead time / time-to-market</a:t>
            </a:r>
          </a:p>
          <a:p>
            <a:pPr>
              <a:defRPr sz="930" b="1">
                <a:solidFill>
                  <a:srgbClr val="667085"/>
                </a:solidFill>
              </a:defRPr>
            </a:pPr>
            <a:r>
              <a:t>90 → 45 dias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60904" y="3154680"/>
            <a:ext cx="21762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bIns="54864" rtlCol="0" anchor="ctr">
            <a:normAutofit/>
          </a:bodyPr>
          <a:lstStyle/>
          <a:p>
            <a:pPr algn="ctr">
              <a:defRPr sz="1200" b="1">
                <a:solidFill>
                  <a:srgbClr val="E87522"/>
                </a:solidFill>
              </a:defRPr>
            </a:pPr>
            <a:r>
              <a:t>Esforço</a:t>
            </a:r>
          </a:p>
          <a:p>
            <a:pPr>
              <a:defRPr sz="850">
                <a:solidFill>
                  <a:srgbClr val="0B1F3A"/>
                </a:solidFill>
              </a:defRPr>
            </a:pPr>
            <a:r>
              <a:t>Horas/pessoa por etapa</a:t>
            </a:r>
          </a:p>
          <a:p>
            <a:pPr>
              <a:defRPr sz="930" b="1">
                <a:solidFill>
                  <a:srgbClr val="667085"/>
                </a:solidFill>
              </a:defRPr>
            </a:pPr>
            <a:r>
              <a:t>600h → 380h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1768" y="3154680"/>
            <a:ext cx="21762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bIns="54864" rtlCol="0" anchor="ctr">
            <a:normAutofit/>
          </a:bodyPr>
          <a:lstStyle/>
          <a:p>
            <a:pPr algn="ctr">
              <a:defRPr sz="1200" b="1">
                <a:solidFill>
                  <a:srgbClr val="2C8A57"/>
                </a:solidFill>
              </a:defRPr>
            </a:pPr>
            <a:r>
              <a:t>Qualidade</a:t>
            </a:r>
          </a:p>
          <a:p>
            <a:pPr>
              <a:defRPr sz="850">
                <a:solidFill>
                  <a:srgbClr val="0B1F3A"/>
                </a:solidFill>
              </a:defRPr>
            </a:pPr>
            <a:r>
              <a:t>Defeitos, retrabalho, incidentes</a:t>
            </a:r>
          </a:p>
          <a:p>
            <a:pPr>
              <a:defRPr sz="930" b="1">
                <a:solidFill>
                  <a:srgbClr val="667085"/>
                </a:solidFill>
              </a:defRPr>
            </a:pPr>
            <a:r>
              <a:t>5 → 3 defeitos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2631" y="3154680"/>
            <a:ext cx="21762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bIns="54864" rtlCol="0" anchor="ctr">
            <a:normAutofit/>
          </a:bodyPr>
          <a:lstStyle/>
          <a:p>
            <a:pPr algn="ctr">
              <a:defRPr sz="1200" b="1">
                <a:solidFill>
                  <a:srgbClr val="2563A6"/>
                </a:solidFill>
              </a:defRPr>
            </a:pPr>
            <a:r>
              <a:t>Eficiência do fluxo</a:t>
            </a:r>
          </a:p>
          <a:p>
            <a:pPr>
              <a:defRPr sz="850">
                <a:solidFill>
                  <a:srgbClr val="0B1F3A"/>
                </a:solidFill>
              </a:defRPr>
            </a:pPr>
            <a:r>
              <a:t>Tempo de espera e gargalos</a:t>
            </a:r>
          </a:p>
          <a:p>
            <a:pPr>
              <a:defRPr sz="930" b="1">
                <a:solidFill>
                  <a:srgbClr val="667085"/>
                </a:solidFill>
              </a:defRPr>
            </a:pPr>
            <a:r>
              <a:t>10 → 3 dias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83496" y="3154680"/>
            <a:ext cx="217627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bIns="54864" rtlCol="0" anchor="ctr">
            <a:normAutofit/>
          </a:bodyPr>
          <a:lstStyle/>
          <a:p>
            <a:pPr algn="ctr">
              <a:defRPr sz="1200" b="1">
                <a:solidFill>
                  <a:srgbClr val="2C8A57"/>
                </a:solidFill>
              </a:defRPr>
            </a:pPr>
            <a:r>
              <a:t>Capacidade</a:t>
            </a:r>
          </a:p>
          <a:p>
            <a:pPr>
              <a:defRPr sz="850">
                <a:solidFill>
                  <a:srgbClr val="0B1F3A"/>
                </a:solidFill>
              </a:defRPr>
            </a:pPr>
            <a:r>
              <a:t>Entregas/ciclos realizados</a:t>
            </a:r>
          </a:p>
          <a:p>
            <a:pPr>
              <a:defRPr sz="930" b="1">
                <a:solidFill>
                  <a:srgbClr val="667085"/>
                </a:solidFill>
              </a:defRPr>
            </a:pPr>
            <a:r>
              <a:t>2 → 5 ciclos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49884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1400" b="1">
                <a:solidFill>
                  <a:srgbClr val="0B1F3A"/>
                </a:solidFill>
              </a:defRPr>
            </a:pPr>
            <a:r>
              <a:t>Exemplo aplicado à modernização / retrofit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Análise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10d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5d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81912" y="5120640"/>
            <a:ext cx="128016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691639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Arquitetura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39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8d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39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4d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70632" y="5120640"/>
            <a:ext cx="128016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880359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Desenvolv.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59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25d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59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12d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59351" y="5120640"/>
            <a:ext cx="128016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69079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Testes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79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10d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69079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5d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48072" y="5120640"/>
            <a:ext cx="128016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257799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Homolog.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799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12d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799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10d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36791" y="5120640"/>
            <a:ext cx="128016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446519" y="4901184"/>
            <a:ext cx="1051560" cy="420624"/>
          </a:xfrm>
          <a:prstGeom prst="roundRect">
            <a:avLst/>
          </a:prstGeom>
          <a:solidFill>
            <a:srgbClr val="EAF2FB"/>
          </a:solidFill>
          <a:ln w="10160">
            <a:solidFill>
              <a:srgbClr val="B7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900" b="1">
                <a:solidFill>
                  <a:srgbClr val="0B1F3A"/>
                </a:solidFill>
              </a:defRPr>
            </a:pPr>
            <a:r>
              <a:t>Deploy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19" y="5358383"/>
            <a:ext cx="105156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0">
                <a:solidFill>
                  <a:srgbClr val="667085"/>
                </a:solidFill>
              </a:defRPr>
            </a:pPr>
            <a:r>
              <a:t>Antes: 5d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19" y="5687568"/>
            <a:ext cx="1051560" cy="292608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BC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>
            <a:normAutofit/>
          </a:bodyPr>
          <a:lstStyle/>
          <a:p>
            <a:pPr algn="ctr">
              <a:defRPr sz="800" b="1">
                <a:solidFill>
                  <a:srgbClr val="2C8A57"/>
                </a:solidFill>
              </a:defRPr>
            </a:pPr>
            <a:r>
              <a:t>IA: 4d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864608"/>
            <a:ext cx="3840480" cy="1536192"/>
          </a:xfrm>
          <a:prstGeom prst="roundRect">
            <a:avLst/>
          </a:prstGeom>
          <a:solidFill>
            <a:srgbClr val="0B1F3A"/>
          </a:solidFill>
          <a:ln w="1016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56448" y="500176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Leitura executiva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5303520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Lead time: 70 → 40 dias  (-43%)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568696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Esforço: 600h → 380h  (-37%)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833872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1150" b="1">
                <a:solidFill>
                  <a:srgbClr val="FFFFFF"/>
                </a:solidFill>
              </a:defRPr>
            </a:pPr>
            <a:r>
              <a:t>Defeitos: 5 → 3  (-40%)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" y="6355080"/>
            <a:ext cx="11521440" cy="640080"/>
          </a:xfrm>
          <a:prstGeom prst="roundRect">
            <a:avLst/>
          </a:prstGeom>
          <a:solidFill>
            <a:srgbClr val="ECF7F1"/>
          </a:solidFill>
          <a:ln w="10160">
            <a:solidFill>
              <a:srgbClr val="2C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6446520"/>
            <a:ext cx="2057400" cy="20116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1150" b="1">
                <a:solidFill>
                  <a:srgbClr val="2C8A57"/>
                </a:solidFill>
              </a:defRPr>
            </a:pPr>
            <a:r>
              <a:t>Insight para o case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6428232"/>
            <a:ext cx="9098280" cy="38404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1050" b="0">
                <a:solidFill>
                  <a:srgbClr val="0B1F3A"/>
                </a:solidFill>
              </a:defRPr>
            </a:pPr>
            <a:r>
              <a:t>Para cada uso de Devin/Copilot/agentes, registrar antes/depois por etapa do fluxo. Assim, IA deixa de ser percepção de produtividade e vira evidência de capacidade liberada para modernização, dívida técnica e novas entregas.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7187184"/>
            <a:ext cx="11155680" cy="16459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defRPr sz="750" b="0">
                <a:solidFill>
                  <a:srgbClr val="667085"/>
                </a:solidFill>
              </a:defRPr>
            </a:pPr>
            <a:r>
              <a:t>Cronograma indicativo. Métricas devem ser calibradas após baseline inicial e contexto da plataforma.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67790650-A71B-B5D7-0154-418CD5843AB2}"/>
              </a:ext>
            </a:extLst>
          </p:cNvPr>
          <p:cNvSpPr txBox="1"/>
          <p:nvPr/>
        </p:nvSpPr>
        <p:spPr>
          <a:xfrm>
            <a:off x="4597908" y="3937492"/>
            <a:ext cx="131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  <a:highlight>
                  <a:srgbClr val="FFFF00"/>
                </a:highlight>
              </a:rPr>
              <a:t>REVER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1764</Words>
  <Application>Microsoft Office PowerPoint</Application>
  <PresentationFormat>Personalizar</PresentationFormat>
  <Paragraphs>326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 Symbol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Transformação da Plataforma Muroa em 180 dias</dc:title>
  <dc:subject>One-page editável - Transformação da Plataforma Muroa em 180 dias</dc:subject>
  <dc:creator>OpenAI</dc:creator>
  <cp:lastModifiedBy>Paulo Sato</cp:lastModifiedBy>
  <cp:revision>1</cp:revision>
  <dcterms:created xsi:type="dcterms:W3CDTF">2026-09-19T15:20:53Z</dcterms:created>
  <dcterms:modified xsi:type="dcterms:W3CDTF">2026-09-20T20:53:46Z</dcterms:modified>
</cp:coreProperties>
</file>